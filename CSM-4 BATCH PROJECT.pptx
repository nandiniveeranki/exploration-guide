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80" r:id="rId15"/>
    <p:sldId id="269" r:id="rId16"/>
    <p:sldId id="270" r:id="rId17"/>
    <p:sldId id="271" r:id="rId18"/>
    <p:sldId id="272" r:id="rId19"/>
    <p:sldId id="273" r:id="rId20"/>
    <p:sldId id="274" r:id="rId21"/>
    <p:sldId id="276" r:id="rId22"/>
    <p:sldId id="275" r:id="rId23"/>
    <p:sldId id="277" r:id="rId24"/>
    <p:sldId id="281" r:id="rId25"/>
    <p:sldId id="282" r:id="rId26"/>
    <p:sldId id="283" r:id="rId27"/>
    <p:sldId id="278" r:id="rId28"/>
    <p:sldId id="279" r:id="rId2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C84FF9F9-83FF-4686-BF48-736AEC0F4FCA}"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43"/>
      </p:cViewPr>
      <p:guideLst/>
    </p:cSldViewPr>
  </p:slideViewPr>
  <p:notesTextViewPr>
    <p:cViewPr>
      <p:scale>
        <a:sx n="1" d="1"/>
        <a:sy n="1" d="1"/>
      </p:scale>
      <p:origin x="0" y="0"/>
    </p:cViewPr>
  </p:notesTextViewPr>
  <p:sorterViewPr>
    <p:cViewPr>
      <p:scale>
        <a:sx n="100" d="100"/>
        <a:sy n="100" d="100"/>
      </p:scale>
      <p:origin x="0" y="-544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4" name="Google Shape;12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1564863b4a4_0_8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g1564863b4a4_0_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1564863b4a4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g1564863b4a4_0_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1c568adccc6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g1c568adccc6_0_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1c568adccc6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 name="Google Shape;180;g1c568adccc6_0_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1c568adccc6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 name="Google Shape;191;g1c568adccc6_0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1fa719f7513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2" name="Google Shape;202;g1fa719f7513_0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1f83119d95b_0_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g1f83119d95b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g1f83119d95b_0_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1f83119d95b_0_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g1f83119d95b_0_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g1f83119d95b_0_4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1f83119d95b_0_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g1f83119d95b_0_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8" name="Google Shape;238;g1f83119d95b_0_6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1f83119d95b_0_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g1f83119d95b_0_7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g1f83119d95b_0_7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1fa6dab12b8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Google Shape;261;g1fa6dab12b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2" name="Google Shape;262;g1fa6dab12b8_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1b8890723e1_0_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4" name="Google Shape;274;g1b8890723e1_0_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1e8b0b8a74a_0_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6" name="Google Shape;286;g1e8b0b8a74a_0_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7" name="Google Shape;287;g1e8b0b8a74a_0_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1e8b0b8a74a_0_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g1e8b0b8a74a_0_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g1e8b0b8a74a_0_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1e8b0b8a74a_0_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2" name="Google Shape;322;g1e8b0b8a74a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3" name="Google Shape;323;g1e8b0b8a74a_0_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1fa6fd60b79_0_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0" name="Google Shape;310;g1fa6fd60b79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1" name="Google Shape;311;g1fa6fd60b79_0_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1b8890723e1_0_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5" name="Google Shape;335;g1b8890723e1_0_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1b8890723e1_0_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5" name="Google Shape;335;g1b8890723e1_0_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096614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1b8890723e1_0_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5" name="Google Shape;335;g1b8890723e1_0_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798546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1b8890723e1_0_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5" name="Google Shape;335;g1b8890723e1_0_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300121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1c0653c3a5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6" name="Google Shape;346;g1c0653c3a5e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2"/>
        <p:cNvGrpSpPr/>
        <p:nvPr/>
      </p:nvGrpSpPr>
      <p:grpSpPr>
        <a:xfrm>
          <a:off x="0" y="0"/>
          <a:ext cx="0" cy="0"/>
          <a:chOff x="0" y="0"/>
          <a:chExt cx="0" cy="0"/>
        </a:xfrm>
      </p:grpSpPr>
      <p:sp>
        <p:nvSpPr>
          <p:cNvPr id="33" name="Google Shape;33;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5" name="Google Shape;35;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2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41" name="Google Shape;41;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4"/>
        <p:cNvGrpSpPr/>
        <p:nvPr/>
      </p:nvGrpSpPr>
      <p:grpSpPr>
        <a:xfrm>
          <a:off x="0" y="0"/>
          <a:ext cx="0" cy="0"/>
          <a:chOff x="0" y="0"/>
          <a:chExt cx="0" cy="0"/>
        </a:xfrm>
      </p:grpSpPr>
      <p:sp>
        <p:nvSpPr>
          <p:cNvPr id="45" name="Google Shape;45;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7" name="Google Shape;47;p2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8" name="Google Shape;48;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1"/>
        <p:cNvGrpSpPr/>
        <p:nvPr/>
      </p:nvGrpSpPr>
      <p:grpSpPr>
        <a:xfrm>
          <a:off x="0" y="0"/>
          <a:ext cx="0" cy="0"/>
          <a:chOff x="0" y="0"/>
          <a:chExt cx="0" cy="0"/>
        </a:xfrm>
      </p:grpSpPr>
      <p:sp>
        <p:nvSpPr>
          <p:cNvPr id="52" name="Google Shape;52;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4" name="Google Shape;54;p2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5" name="Google Shape;55;p2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6" name="Google Shape;56;p2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7" name="Google Shape;57;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3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8" name="Google Shape;68;p3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2"/>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3"/>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33"/>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p:nvPr/>
        </p:nvSpPr>
        <p:spPr>
          <a:xfrm>
            <a:off x="418720" y="351389"/>
            <a:ext cx="8615100" cy="2684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Times New Roman"/>
                <a:ea typeface="Times New Roman"/>
                <a:cs typeface="Times New Roman"/>
                <a:sym typeface="Times New Roman"/>
              </a:rPr>
              <a:t>    Department of </a:t>
            </a:r>
            <a:r>
              <a:rPr lang="en-US" sz="2000" b="1" dirty="0">
                <a:solidFill>
                  <a:schemeClr val="dk1"/>
                </a:solidFill>
                <a:latin typeface="Times New Roman"/>
                <a:ea typeface="Times New Roman"/>
                <a:cs typeface="Times New Roman"/>
                <a:sym typeface="Times New Roman"/>
              </a:rPr>
              <a:t>Allied </a:t>
            </a:r>
            <a:r>
              <a:rPr lang="en-US" sz="2000" b="1" i="0" u="none" strike="noStrike" cap="none" dirty="0">
                <a:solidFill>
                  <a:schemeClr val="dk1"/>
                </a:solidFill>
                <a:latin typeface="Times New Roman"/>
                <a:ea typeface="Times New Roman"/>
                <a:cs typeface="Times New Roman"/>
                <a:sym typeface="Times New Roman"/>
              </a:rPr>
              <a:t>Computer Science and Engineering</a:t>
            </a:r>
            <a:br>
              <a:rPr lang="en-US" sz="2000" b="1" i="0" u="none" strike="noStrike" cap="none" dirty="0">
                <a:solidFill>
                  <a:schemeClr val="dk1"/>
                </a:solidFill>
                <a:latin typeface="Times New Roman"/>
                <a:ea typeface="Times New Roman"/>
                <a:cs typeface="Times New Roman"/>
                <a:sym typeface="Times New Roman"/>
              </a:rPr>
            </a:br>
            <a:r>
              <a:rPr lang="en-US" sz="2000" b="1" i="0" u="none" strike="noStrike" cap="none" dirty="0">
                <a:solidFill>
                  <a:schemeClr val="dk1"/>
                </a:solidFill>
                <a:latin typeface="Times New Roman"/>
                <a:ea typeface="Times New Roman"/>
                <a:cs typeface="Times New Roman"/>
                <a:sym typeface="Times New Roman"/>
              </a:rPr>
              <a:t>           </a:t>
            </a:r>
            <a:r>
              <a:rPr lang="en-US" sz="2000" b="0" i="0" u="none" strike="noStrike" cap="none" dirty="0">
                <a:solidFill>
                  <a:schemeClr val="dk1"/>
                </a:solidFill>
                <a:latin typeface="Times New Roman"/>
                <a:ea typeface="Times New Roman"/>
                <a:cs typeface="Times New Roman"/>
                <a:sym typeface="Times New Roman"/>
              </a:rPr>
              <a:t>VIGNAN’S LARA INSTITUTE OF TECHNOLOGY AND SCIENCE</a:t>
            </a:r>
            <a:br>
              <a:rPr lang="en-US" sz="2000" b="1" i="0" u="none" strike="noStrike" cap="none" dirty="0">
                <a:solidFill>
                  <a:schemeClr val="dk1"/>
                </a:solidFill>
                <a:latin typeface="Times New Roman"/>
                <a:ea typeface="Times New Roman"/>
                <a:cs typeface="Times New Roman"/>
                <a:sym typeface="Times New Roman"/>
              </a:rPr>
            </a:br>
            <a:br>
              <a:rPr lang="en-US" sz="2000" b="1" i="0" u="none" strike="noStrike" cap="none" dirty="0">
                <a:solidFill>
                  <a:schemeClr val="dk1"/>
                </a:solidFill>
                <a:latin typeface="Times New Roman"/>
                <a:ea typeface="Times New Roman"/>
                <a:cs typeface="Times New Roman"/>
                <a:sym typeface="Times New Roman"/>
              </a:rPr>
            </a:br>
            <a:r>
              <a:rPr lang="en-US" sz="2000" b="1" i="0" u="none" strike="noStrike" cap="none" dirty="0">
                <a:solidFill>
                  <a:schemeClr val="dk1"/>
                </a:solidFill>
                <a:latin typeface="Times New Roman"/>
                <a:ea typeface="Times New Roman"/>
                <a:cs typeface="Times New Roman"/>
                <a:sym typeface="Times New Roman"/>
              </a:rPr>
              <a:t>Project Review </a:t>
            </a:r>
            <a:br>
              <a:rPr lang="en-US" sz="2000" b="1" i="0" u="none" strike="noStrike" cap="none" dirty="0">
                <a:solidFill>
                  <a:schemeClr val="dk1"/>
                </a:solidFill>
                <a:latin typeface="Times New Roman"/>
                <a:ea typeface="Times New Roman"/>
                <a:cs typeface="Times New Roman"/>
                <a:sym typeface="Times New Roman"/>
              </a:rPr>
            </a:br>
            <a:r>
              <a:rPr lang="en-US" sz="2000" b="0" i="0" u="none" strike="noStrike" cap="none" dirty="0">
                <a:solidFill>
                  <a:schemeClr val="dk1"/>
                </a:solidFill>
                <a:latin typeface="Times New Roman"/>
                <a:ea typeface="Times New Roman"/>
                <a:cs typeface="Times New Roman"/>
                <a:sym typeface="Times New Roman"/>
              </a:rPr>
              <a:t>on</a:t>
            </a:r>
            <a:endParaRPr sz="2000" b="0"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Times New Roman"/>
              <a:ea typeface="Times New Roman"/>
              <a:cs typeface="Times New Roman"/>
              <a:sym typeface="Times New Roman"/>
            </a:endParaRPr>
          </a:p>
          <a:p>
            <a:pPr lvl="0" algn="ctr">
              <a:buClr>
                <a:schemeClr val="dk1"/>
              </a:buClr>
              <a:buSzPts val="2400"/>
            </a:pPr>
            <a:r>
              <a:rPr lang="en-US" sz="2300" b="1" dirty="0">
                <a:solidFill>
                  <a:schemeClr val="tx1"/>
                </a:solidFill>
                <a:latin typeface="Times New Roman" panose="02020603050405020304" pitchFamily="18" charset="0"/>
                <a:cs typeface="Times New Roman" panose="02020603050405020304" pitchFamily="18" charset="0"/>
              </a:rPr>
              <a:t>AI DRIVEN DEEP DOMAIN NAVIGATOR-FOR INDIA</a:t>
            </a:r>
            <a:endParaRPr sz="2300" b="0" i="0" u="none" strike="noStrike" cap="none" dirty="0">
              <a:solidFill>
                <a:schemeClr val="dk1"/>
              </a:solidFill>
              <a:latin typeface="Times New Roman"/>
              <a:ea typeface="Times New Roman"/>
              <a:cs typeface="Times New Roman"/>
              <a:sym typeface="Times New Roman"/>
            </a:endParaRPr>
          </a:p>
        </p:txBody>
      </p:sp>
      <p:pic>
        <p:nvPicPr>
          <p:cNvPr id="89" name="Google Shape;89;p1" descr="logo.png"/>
          <p:cNvPicPr preferRelativeResize="0"/>
          <p:nvPr/>
        </p:nvPicPr>
        <p:blipFill rotWithShape="1">
          <a:blip r:embed="rId3">
            <a:alphaModFix/>
          </a:blip>
          <a:srcRect/>
          <a:stretch/>
        </p:blipFill>
        <p:spPr>
          <a:xfrm>
            <a:off x="418721" y="285728"/>
            <a:ext cx="928695" cy="857256"/>
          </a:xfrm>
          <a:prstGeom prst="rect">
            <a:avLst/>
          </a:prstGeom>
          <a:noFill/>
          <a:ln>
            <a:noFill/>
          </a:ln>
        </p:spPr>
      </p:pic>
      <p:sp>
        <p:nvSpPr>
          <p:cNvPr id="90" name="Google Shape;90;p1"/>
          <p:cNvSpPr/>
          <p:nvPr/>
        </p:nvSpPr>
        <p:spPr>
          <a:xfrm>
            <a:off x="163650" y="3996550"/>
            <a:ext cx="3999300" cy="19389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Times New Roman"/>
                <a:ea typeface="Times New Roman"/>
                <a:cs typeface="Times New Roman"/>
                <a:sym typeface="Times New Roman"/>
              </a:rPr>
              <a:t>Under The Esteemed Guidance of</a:t>
            </a:r>
            <a:endParaRPr sz="1400" b="0" i="0" u="none" strike="noStrike" cap="none" dirty="0">
              <a:solidFill>
                <a:srgbClr val="000000"/>
              </a:solidFill>
              <a:latin typeface="Arial"/>
              <a:ea typeface="Arial"/>
              <a:cs typeface="Arial"/>
              <a:sym typeface="Arial"/>
            </a:endParaRPr>
          </a:p>
          <a:p>
            <a:pPr algn="ctr">
              <a:buSzPts val="2500"/>
            </a:pPr>
            <a:r>
              <a:rPr lang="en-IN" sz="2300" b="1" dirty="0">
                <a:solidFill>
                  <a:schemeClr val="tx1"/>
                </a:solidFill>
                <a:latin typeface="Times New Roman" panose="02020603050405020304" pitchFamily="18" charset="0"/>
                <a:cs typeface="Times New Roman" panose="02020603050405020304" pitchFamily="18" charset="0"/>
              </a:rPr>
              <a:t>Dr. K .Venkateswara Rao</a:t>
            </a:r>
            <a:r>
              <a:rPr lang="en-US" sz="2000" b="1" i="0" u="none" strike="noStrike" cap="none" dirty="0">
                <a:solidFill>
                  <a:srgbClr val="0C0C0C"/>
                </a:solidFill>
                <a:latin typeface="Times New Roman"/>
                <a:ea typeface="Times New Roman"/>
                <a:cs typeface="Times New Roman"/>
                <a:sym typeface="Times New Roman"/>
              </a:rPr>
              <a:t> </a:t>
            </a:r>
            <a:r>
              <a:rPr lang="en-US" sz="1700" b="1" dirty="0">
                <a:solidFill>
                  <a:srgbClr val="0C0C0C"/>
                </a:solidFill>
                <a:latin typeface="Times New Roman"/>
                <a:ea typeface="Times New Roman"/>
                <a:cs typeface="Times New Roman"/>
                <a:sym typeface="Times New Roman"/>
              </a:rPr>
              <a:t>Ph. D</a:t>
            </a:r>
            <a:endParaRPr sz="17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Times New Roman"/>
                <a:ea typeface="Times New Roman"/>
                <a:cs typeface="Times New Roman"/>
                <a:sym typeface="Times New Roman"/>
              </a:rPr>
              <a:t>Professor &amp; </a:t>
            </a:r>
            <a:r>
              <a:rPr lang="en-US" sz="2000" b="0" i="0" u="none" strike="noStrike" cap="none" dirty="0" err="1">
                <a:solidFill>
                  <a:schemeClr val="dk1"/>
                </a:solidFill>
                <a:latin typeface="Times New Roman"/>
                <a:ea typeface="Times New Roman"/>
                <a:cs typeface="Times New Roman"/>
                <a:sym typeface="Times New Roman"/>
              </a:rPr>
              <a:t>HoD</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Times New Roman"/>
                <a:ea typeface="Times New Roman"/>
                <a:cs typeface="Times New Roman"/>
                <a:sym typeface="Times New Roman"/>
              </a:rPr>
              <a:t>Department of CSE</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dirty="0">
              <a:solidFill>
                <a:srgbClr val="0C0C0C"/>
              </a:solidFill>
              <a:latin typeface="Times New Roman"/>
              <a:ea typeface="Times New Roman"/>
              <a:cs typeface="Times New Roman"/>
              <a:sym typeface="Times New Roman"/>
            </a:endParaRPr>
          </a:p>
        </p:txBody>
      </p:sp>
      <p:sp>
        <p:nvSpPr>
          <p:cNvPr id="91" name="Google Shape;91;p1"/>
          <p:cNvSpPr/>
          <p:nvPr/>
        </p:nvSpPr>
        <p:spPr>
          <a:xfrm>
            <a:off x="4162950" y="3861048"/>
            <a:ext cx="4828651" cy="1938992"/>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2000"/>
              <a:buFont typeface="Arial"/>
              <a:buNone/>
            </a:pPr>
            <a:r>
              <a:rPr lang="en-US" sz="2000" b="1" i="0" u="none" strike="noStrike" cap="none" dirty="0">
                <a:solidFill>
                  <a:srgbClr val="0C0C0C"/>
                </a:solidFill>
                <a:latin typeface="Times New Roman"/>
                <a:ea typeface="Times New Roman"/>
                <a:cs typeface="Times New Roman"/>
                <a:sym typeface="Times New Roman"/>
              </a:rPr>
              <a:t>Presented By </a:t>
            </a:r>
            <a:endParaRPr sz="1400" b="0" i="0" u="none" strike="noStrike" cap="none" dirty="0">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2000"/>
              <a:buFont typeface="Arial"/>
              <a:buNone/>
            </a:pPr>
            <a:r>
              <a:rPr lang="en-US" sz="2000" b="0" i="0" u="none" strike="noStrike" cap="none" dirty="0">
                <a:solidFill>
                  <a:srgbClr val="0C0C0C"/>
                </a:solidFill>
                <a:latin typeface="Times New Roman"/>
                <a:ea typeface="Times New Roman"/>
                <a:cs typeface="Times New Roman"/>
                <a:sym typeface="Times New Roman"/>
              </a:rPr>
              <a:t>Batch No: </a:t>
            </a:r>
            <a:r>
              <a:rPr lang="en-US" sz="2000" dirty="0">
                <a:solidFill>
                  <a:srgbClr val="0C0C0C"/>
                </a:solidFill>
                <a:latin typeface="Times New Roman"/>
                <a:ea typeface="Times New Roman"/>
                <a:cs typeface="Times New Roman"/>
                <a:sym typeface="Times New Roman"/>
              </a:rPr>
              <a:t>CSM-4</a:t>
            </a:r>
            <a:endParaRPr lang="en-IN" sz="1400" b="0" i="0" u="none" strike="noStrike" cap="none" dirty="0">
              <a:solidFill>
                <a:srgbClr val="000000"/>
              </a:solidFill>
              <a:latin typeface="Arial"/>
              <a:ea typeface="Arial"/>
              <a:cs typeface="Arial"/>
              <a:sym typeface="Arial"/>
            </a:endParaRPr>
          </a:p>
          <a:p>
            <a:pPr marL="0" marR="0" lvl="0" indent="0" rtl="0">
              <a:lnSpc>
                <a:spcPct val="100000"/>
              </a:lnSpc>
              <a:spcBef>
                <a:spcPts val="0"/>
              </a:spcBef>
              <a:spcAft>
                <a:spcPts val="0"/>
              </a:spcAft>
              <a:buClr>
                <a:srgbClr val="000000"/>
              </a:buClr>
              <a:buSzPts val="2000"/>
              <a:buFont typeface="Arial"/>
              <a:buNone/>
            </a:pPr>
            <a:r>
              <a:rPr lang="en-US" sz="2000" b="0" i="0" u="none" strike="noStrike" cap="none" dirty="0">
                <a:solidFill>
                  <a:srgbClr val="0C0C0C"/>
                </a:solidFill>
                <a:latin typeface="Times New Roman"/>
                <a:ea typeface="Times New Roman"/>
                <a:cs typeface="Times New Roman"/>
                <a:sym typeface="Times New Roman"/>
              </a:rPr>
              <a:t>  </a:t>
            </a:r>
            <a:r>
              <a:rPr lang="en-IN" sz="2000" dirty="0">
                <a:solidFill>
                  <a:srgbClr val="0C0C0C"/>
                </a:solidFill>
                <a:latin typeface="Times New Roman"/>
                <a:ea typeface="Times New Roman"/>
                <a:cs typeface="Times New Roman"/>
                <a:sym typeface="Times New Roman"/>
              </a:rPr>
              <a:t>V. NANDINI          </a:t>
            </a:r>
            <a:r>
              <a:rPr lang="en-IN" sz="2000" b="0" i="0" u="none" strike="noStrike" cap="none" dirty="0">
                <a:solidFill>
                  <a:srgbClr val="0C0C0C"/>
                </a:solidFill>
                <a:latin typeface="Times New Roman"/>
                <a:ea typeface="Times New Roman"/>
                <a:cs typeface="Times New Roman"/>
                <a:sym typeface="Times New Roman"/>
              </a:rPr>
              <a:t>                 22FE1A4260</a:t>
            </a:r>
            <a:endParaRPr lang="en-IN" sz="1400" b="0" i="0" u="none" strike="noStrike" cap="none" dirty="0">
              <a:solidFill>
                <a:srgbClr val="000000"/>
              </a:solidFill>
              <a:latin typeface="Arial"/>
              <a:ea typeface="Arial"/>
              <a:cs typeface="Arial"/>
              <a:sym typeface="Arial"/>
            </a:endParaRPr>
          </a:p>
          <a:p>
            <a:pPr marL="0" marR="0" lvl="0" indent="0" rtl="0">
              <a:lnSpc>
                <a:spcPct val="100000"/>
              </a:lnSpc>
              <a:spcBef>
                <a:spcPts val="0"/>
              </a:spcBef>
              <a:spcAft>
                <a:spcPts val="0"/>
              </a:spcAft>
              <a:buClr>
                <a:srgbClr val="000000"/>
              </a:buClr>
              <a:buSzPts val="2000"/>
              <a:buFont typeface="Arial"/>
              <a:buNone/>
            </a:pPr>
            <a:r>
              <a:rPr lang="en-US" sz="2000" b="0" i="0" u="none" strike="noStrike" cap="none" dirty="0">
                <a:solidFill>
                  <a:srgbClr val="0C0C0C"/>
                </a:solidFill>
                <a:latin typeface="Times New Roman"/>
                <a:ea typeface="Times New Roman"/>
                <a:cs typeface="Times New Roman"/>
                <a:sym typeface="Times New Roman"/>
              </a:rPr>
              <a:t> </a:t>
            </a:r>
            <a:r>
              <a:rPr lang="en-US" sz="2000" dirty="0">
                <a:solidFill>
                  <a:srgbClr val="0C0C0C"/>
                </a:solidFill>
                <a:latin typeface="Times New Roman"/>
                <a:ea typeface="Times New Roman"/>
                <a:cs typeface="Times New Roman"/>
                <a:sym typeface="Times New Roman"/>
              </a:rPr>
              <a:t> B. VARDHAN      </a:t>
            </a:r>
            <a:r>
              <a:rPr lang="en-US" sz="2000" b="0" i="0" u="none" strike="noStrike" cap="none" dirty="0">
                <a:solidFill>
                  <a:srgbClr val="0C0C0C"/>
                </a:solidFill>
                <a:latin typeface="Times New Roman"/>
                <a:ea typeface="Times New Roman"/>
                <a:cs typeface="Times New Roman"/>
                <a:sym typeface="Times New Roman"/>
              </a:rPr>
              <a:t>                  22FE1A4206</a:t>
            </a:r>
            <a:endParaRPr lang="en-IN" dirty="0">
              <a:ea typeface="Times New Roman"/>
            </a:endParaRPr>
          </a:p>
          <a:p>
            <a:pPr marL="0" marR="0" lvl="0" indent="0" rtl="0">
              <a:lnSpc>
                <a:spcPct val="100000"/>
              </a:lnSpc>
              <a:spcBef>
                <a:spcPts val="0"/>
              </a:spcBef>
              <a:spcAft>
                <a:spcPts val="0"/>
              </a:spcAft>
              <a:buClr>
                <a:srgbClr val="000000"/>
              </a:buClr>
              <a:buSzPts val="2000"/>
              <a:buFont typeface="Arial"/>
              <a:buNone/>
            </a:pPr>
            <a:r>
              <a:rPr lang="en-IN" sz="2000" dirty="0">
                <a:solidFill>
                  <a:srgbClr val="0C0C0C"/>
                </a:solidFill>
                <a:latin typeface="Times New Roman"/>
                <a:ea typeface="Times New Roman"/>
                <a:cs typeface="Times New Roman"/>
                <a:sym typeface="Times New Roman"/>
              </a:rPr>
              <a:t>  K. NAGA SAI KRISHNA</a:t>
            </a:r>
            <a:r>
              <a:rPr lang="en-IN" sz="2000" b="0" i="0" u="none" strike="noStrike" cap="none" dirty="0">
                <a:solidFill>
                  <a:srgbClr val="0C0C0C"/>
                </a:solidFill>
                <a:latin typeface="Times New Roman"/>
                <a:ea typeface="Times New Roman"/>
                <a:cs typeface="Times New Roman"/>
                <a:sym typeface="Times New Roman"/>
              </a:rPr>
              <a:t>      22FE1A4223</a:t>
            </a:r>
            <a:endParaRPr lang="en-IN" sz="1400" b="0" i="0" u="none" strike="noStrike" cap="none" dirty="0">
              <a:solidFill>
                <a:srgbClr val="000000"/>
              </a:solidFill>
              <a:latin typeface="Arial"/>
              <a:ea typeface="Arial"/>
              <a:cs typeface="Arial"/>
              <a:sym typeface="Arial"/>
            </a:endParaRPr>
          </a:p>
          <a:p>
            <a:pPr marL="0" marR="0" lvl="0" indent="0" rtl="0">
              <a:lnSpc>
                <a:spcPct val="100000"/>
              </a:lnSpc>
              <a:spcBef>
                <a:spcPts val="0"/>
              </a:spcBef>
              <a:spcAft>
                <a:spcPts val="0"/>
              </a:spcAft>
              <a:buClr>
                <a:srgbClr val="000000"/>
              </a:buClr>
              <a:buSzPts val="2000"/>
              <a:buFont typeface="Arial"/>
              <a:buNone/>
            </a:pPr>
            <a:r>
              <a:rPr lang="en-US" sz="2000" b="0" i="0" u="none" strike="noStrike" cap="none" dirty="0">
                <a:solidFill>
                  <a:srgbClr val="0C0C0C"/>
                </a:solidFill>
                <a:latin typeface="Times New Roman"/>
                <a:ea typeface="Times New Roman"/>
                <a:cs typeface="Times New Roman"/>
                <a:sym typeface="Times New Roman"/>
              </a:rPr>
              <a:t>  M. YASWANTH                    22FE1A4226</a:t>
            </a:r>
            <a:endParaRPr sz="2000" b="0" i="0" u="none" strike="noStrike" cap="none" dirty="0">
              <a:solidFill>
                <a:schemeClr val="dk1"/>
              </a:solidFill>
              <a:latin typeface="Times New Roman"/>
              <a:ea typeface="Times New Roman"/>
              <a:cs typeface="Times New Roman"/>
              <a:sym typeface="Times New Roman"/>
            </a:endParaRPr>
          </a:p>
        </p:txBody>
      </p:sp>
      <p:sp>
        <p:nvSpPr>
          <p:cNvPr id="92" name="Google Shape;92;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r>
              <a:rPr lang="en-US">
                <a:latin typeface="Times New Roman"/>
                <a:ea typeface="Times New Roman"/>
                <a:cs typeface="Times New Roman"/>
                <a:sym typeface="Times New Roman"/>
              </a:rPr>
              <a:t>1</a:t>
            </a:r>
            <a:endParaRPr>
              <a:latin typeface="Times New Roman"/>
              <a:ea typeface="Times New Roman"/>
              <a:cs typeface="Times New Roman"/>
              <a:sym typeface="Times New Roman"/>
            </a:endParaRPr>
          </a:p>
        </p:txBody>
      </p:sp>
      <p:sp>
        <p:nvSpPr>
          <p:cNvPr id="93" name="Google Shape;93;p1"/>
          <p:cNvSpPr txBox="1">
            <a:spLocks noGrp="1"/>
          </p:cNvSpPr>
          <p:nvPr>
            <p:ph type="ftr" idx="11"/>
          </p:nvPr>
        </p:nvSpPr>
        <p:spPr>
          <a:xfrm>
            <a:off x="3124199" y="6356350"/>
            <a:ext cx="3877101"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latin typeface="Times New Roman"/>
                <a:ea typeface="Times New Roman"/>
                <a:cs typeface="Times New Roman"/>
                <a:sym typeface="Times New Roman"/>
              </a:rPr>
              <a:t>Department of Allied Computer Science &amp; Engineering</a:t>
            </a:r>
            <a:endParaRPr dirty="0">
              <a:latin typeface="Times New Roman"/>
              <a:ea typeface="Times New Roman"/>
              <a:cs typeface="Times New Roman"/>
              <a:sym typeface="Times New Roman"/>
            </a:endParaRPr>
          </a:p>
        </p:txBody>
      </p:sp>
      <p:sp>
        <p:nvSpPr>
          <p:cNvPr id="94" name="Google Shape;94;p1"/>
          <p:cNvSpPr txBox="1"/>
          <p:nvPr/>
        </p:nvSpPr>
        <p:spPr>
          <a:xfrm>
            <a:off x="418721" y="6270992"/>
            <a:ext cx="17049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dirty="0">
                <a:solidFill>
                  <a:schemeClr val="dk1"/>
                </a:solidFill>
                <a:latin typeface="Times New Roman"/>
                <a:ea typeface="Times New Roman"/>
                <a:cs typeface="Times New Roman"/>
                <a:sym typeface="Times New Roman"/>
              </a:rPr>
              <a:t>06</a:t>
            </a:r>
            <a:r>
              <a:rPr lang="en-US" sz="1800" b="0" i="0" u="none" strike="noStrike" cap="none" dirty="0">
                <a:solidFill>
                  <a:schemeClr val="dk1"/>
                </a:solidFill>
                <a:latin typeface="Times New Roman"/>
                <a:ea typeface="Times New Roman"/>
                <a:cs typeface="Times New Roman"/>
                <a:sym typeface="Times New Roman"/>
              </a:rPr>
              <a:t>/04/2026</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24/05/2021</a:t>
            </a:r>
            <a:endParaRPr/>
          </a:p>
        </p:txBody>
      </p:sp>
      <p:sp>
        <p:nvSpPr>
          <p:cNvPr id="100" name="Google Shape;100;p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Department of Allied Computer Science &amp; Engineering</a:t>
            </a:r>
            <a:endParaRPr dirty="0"/>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
        <p:nvSpPr>
          <p:cNvPr id="102" name="Google Shape;102;p2"/>
          <p:cNvSpPr/>
          <p:nvPr/>
        </p:nvSpPr>
        <p:spPr>
          <a:xfrm>
            <a:off x="1214414" y="14840"/>
            <a:ext cx="7715304" cy="842392"/>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TITLE</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03" name="Google Shape;103;p2"/>
          <p:cNvSpPr/>
          <p:nvPr/>
        </p:nvSpPr>
        <p:spPr>
          <a:xfrm>
            <a:off x="0" y="6356350"/>
            <a:ext cx="9144000" cy="501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04" name="Google Shape;104;p2"/>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105" name="Google Shape;105;p2"/>
          <p:cNvSpPr txBox="1"/>
          <p:nvPr/>
        </p:nvSpPr>
        <p:spPr>
          <a:xfrm>
            <a:off x="147614" y="6476941"/>
            <a:ext cx="2133600" cy="292079"/>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dirty="0">
                <a:solidFill>
                  <a:schemeClr val="lt1"/>
                </a:solidFill>
                <a:latin typeface="Calibri"/>
                <a:ea typeface="Calibri"/>
                <a:cs typeface="Calibri"/>
                <a:sym typeface="Calibri"/>
              </a:rPr>
              <a:t>06</a:t>
            </a:r>
            <a:r>
              <a:rPr lang="en-US" sz="1800" b="1" i="0" u="none" strike="noStrike" cap="none" dirty="0">
                <a:solidFill>
                  <a:schemeClr val="lt1"/>
                </a:solidFill>
                <a:latin typeface="Calibri"/>
                <a:ea typeface="Calibri"/>
                <a:cs typeface="Calibri"/>
                <a:sym typeface="Calibri"/>
              </a:rPr>
              <a:t>/04/2026</a:t>
            </a:r>
            <a:endParaRPr sz="1400" b="0" i="0" u="none" strike="noStrike" cap="none" dirty="0">
              <a:solidFill>
                <a:srgbClr val="000000"/>
              </a:solidFill>
              <a:latin typeface="Arial"/>
              <a:ea typeface="Arial"/>
              <a:cs typeface="Arial"/>
              <a:sym typeface="Arial"/>
            </a:endParaRPr>
          </a:p>
        </p:txBody>
      </p:sp>
      <p:sp>
        <p:nvSpPr>
          <p:cNvPr id="106" name="Google Shape;106;p2"/>
          <p:cNvSpPr txBox="1"/>
          <p:nvPr/>
        </p:nvSpPr>
        <p:spPr>
          <a:xfrm>
            <a:off x="8370277" y="6428364"/>
            <a:ext cx="431732"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1" i="0" u="none" strike="noStrike" cap="none">
                <a:solidFill>
                  <a:schemeClr val="lt1"/>
                </a:solidFill>
                <a:latin typeface="Calibri"/>
                <a:ea typeface="Calibri"/>
                <a:cs typeface="Calibri"/>
                <a:sym typeface="Calibri"/>
              </a:rPr>
              <a:t>2</a:t>
            </a:fld>
            <a:endParaRPr sz="1800" b="1" i="0" u="none" strike="noStrike" cap="none" dirty="0">
              <a:solidFill>
                <a:schemeClr val="lt1"/>
              </a:solidFill>
              <a:latin typeface="Calibri"/>
              <a:ea typeface="Calibri"/>
              <a:cs typeface="Calibri"/>
              <a:sym typeface="Calibri"/>
            </a:endParaRPr>
          </a:p>
        </p:txBody>
      </p:sp>
      <p:sp>
        <p:nvSpPr>
          <p:cNvPr id="107" name="Google Shape;107;p2"/>
          <p:cNvSpPr txBox="1"/>
          <p:nvPr/>
        </p:nvSpPr>
        <p:spPr>
          <a:xfrm>
            <a:off x="1973444" y="6352375"/>
            <a:ext cx="5710246" cy="5097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lt1"/>
                </a:solidFill>
                <a:latin typeface="Calibri"/>
                <a:ea typeface="Calibri"/>
                <a:cs typeface="Calibri"/>
                <a:sym typeface="Calibri"/>
              </a:rPr>
              <a:t>     Department of Allied Computer Science &amp; Engineering</a:t>
            </a:r>
            <a:endParaRPr sz="1800" b="1" i="0" u="none" strike="noStrike" cap="none" dirty="0">
              <a:solidFill>
                <a:schemeClr val="lt1"/>
              </a:solidFill>
              <a:latin typeface="Calibri"/>
              <a:ea typeface="Calibri"/>
              <a:cs typeface="Calibri"/>
              <a:sym typeface="Calibri"/>
            </a:endParaRPr>
          </a:p>
        </p:txBody>
      </p:sp>
      <p:sp>
        <p:nvSpPr>
          <p:cNvPr id="108" name="Google Shape;108;p2"/>
          <p:cNvSpPr/>
          <p:nvPr/>
        </p:nvSpPr>
        <p:spPr>
          <a:xfrm>
            <a:off x="-126609" y="1561514"/>
            <a:ext cx="9889587" cy="2554545"/>
          </a:xfrm>
          <a:prstGeom prst="rect">
            <a:avLst/>
          </a:prstGeom>
          <a:noFill/>
          <a:ln>
            <a:noFill/>
          </a:ln>
        </p:spPr>
        <p:txBody>
          <a:bodyPr spcFirstLastPara="1" wrap="square" lIns="91425" tIns="45700" rIns="91425" bIns="45700" anchor="t" anchorCtr="0">
            <a:noAutofit/>
          </a:bodyPr>
          <a:lstStyle/>
          <a:p>
            <a:pPr lvl="0" algn="ctr">
              <a:buClr>
                <a:schemeClr val="dk1"/>
              </a:buClr>
              <a:buSzPts val="2400"/>
            </a:pPr>
            <a:endParaRPr lang="en-US" sz="4000" b="1" dirty="0">
              <a:latin typeface="Times New Roman" panose="02020603050405020304" pitchFamily="18" charset="0"/>
              <a:cs typeface="Times New Roman" panose="02020603050405020304" pitchFamily="18" charset="0"/>
            </a:endParaRPr>
          </a:p>
          <a:p>
            <a:pPr lvl="0" algn="ctr">
              <a:lnSpc>
                <a:spcPct val="150000"/>
              </a:lnSpc>
              <a:buClr>
                <a:schemeClr val="dk1"/>
              </a:buClr>
              <a:buSzPts val="2400"/>
            </a:pPr>
            <a:r>
              <a:rPr lang="en-US" sz="4000" b="1" dirty="0">
                <a:solidFill>
                  <a:schemeClr val="tx1"/>
                </a:solidFill>
                <a:latin typeface="Times New Roman" panose="02020603050405020304" pitchFamily="18" charset="0"/>
                <a:cs typeface="Times New Roman" panose="02020603050405020304" pitchFamily="18" charset="0"/>
              </a:rPr>
              <a:t>AI DRIVEN DEEP DOMAIN NAVIGATOR-FOR INDIA</a:t>
            </a:r>
            <a:br>
              <a:rPr lang="en-US" sz="4000" b="1" dirty="0">
                <a:solidFill>
                  <a:schemeClr val="tx1"/>
                </a:solidFill>
                <a:latin typeface="Book Antiqua" panose="02040602050305030304" pitchFamily="18" charset="0"/>
                <a:cs typeface="Times New Roman" panose="02020603050405020304" pitchFamily="18" charset="0"/>
              </a:rPr>
            </a:br>
            <a:endParaRPr sz="5400" b="1"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p:nvPr/>
        </p:nvSpPr>
        <p:spPr>
          <a:xfrm>
            <a:off x="1214414" y="14840"/>
            <a:ext cx="7715304" cy="842392"/>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CONTENTS</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15" name="Google Shape;115;p3"/>
          <p:cNvSpPr/>
          <p:nvPr/>
        </p:nvSpPr>
        <p:spPr>
          <a:xfrm>
            <a:off x="0" y="6572272"/>
            <a:ext cx="9144000" cy="285728"/>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16" name="Google Shape;116;p3"/>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117" name="Google Shape;117;p3"/>
          <p:cNvSpPr txBox="1">
            <a:spLocks noGrp="1"/>
          </p:cNvSpPr>
          <p:nvPr>
            <p:ph type="dt" idx="10"/>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400"/>
              <a:buFont typeface="Arial"/>
              <a:buNone/>
            </a:pPr>
            <a:r>
              <a:rPr lang="en-US" sz="1800" b="1" dirty="0">
                <a:solidFill>
                  <a:schemeClr val="lt1"/>
                </a:solidFill>
              </a:rPr>
              <a:t>06/04/2026</a:t>
            </a:r>
            <a:endParaRPr dirty="0"/>
          </a:p>
        </p:txBody>
      </p:sp>
      <p:sp>
        <p:nvSpPr>
          <p:cNvPr id="118" name="Google Shape;118;p3"/>
          <p:cNvSpPr txBox="1">
            <a:spLocks noGrp="1"/>
          </p:cNvSpPr>
          <p:nvPr>
            <p:ph type="sldNum" idx="12"/>
          </p:nvPr>
        </p:nvSpPr>
        <p:spPr>
          <a:xfrm>
            <a:off x="6724680" y="6500834"/>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3</a:t>
            </a:fld>
            <a:endParaRPr sz="1800" b="1">
              <a:solidFill>
                <a:schemeClr val="lt1"/>
              </a:solidFill>
            </a:endParaRPr>
          </a:p>
        </p:txBody>
      </p:sp>
      <p:sp>
        <p:nvSpPr>
          <p:cNvPr id="119" name="Google Shape;119;p3"/>
          <p:cNvSpPr txBox="1">
            <a:spLocks noGrp="1"/>
          </p:cNvSpPr>
          <p:nvPr>
            <p:ph type="ftr" idx="11"/>
          </p:nvPr>
        </p:nvSpPr>
        <p:spPr>
          <a:xfrm>
            <a:off x="1928800" y="6500825"/>
            <a:ext cx="5850424"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dirty="0">
                <a:solidFill>
                  <a:schemeClr val="lt1"/>
                </a:solidFill>
              </a:rPr>
              <a:t>     Department of Allied Computer Science &amp; Engineering</a:t>
            </a:r>
            <a:endParaRPr sz="1800" b="1" dirty="0">
              <a:solidFill>
                <a:schemeClr val="lt1"/>
              </a:solidFill>
            </a:endParaRPr>
          </a:p>
        </p:txBody>
      </p:sp>
      <p:sp>
        <p:nvSpPr>
          <p:cNvPr id="120" name="Google Shape;120;p3"/>
          <p:cNvSpPr txBox="1"/>
          <p:nvPr/>
        </p:nvSpPr>
        <p:spPr>
          <a:xfrm>
            <a:off x="1502500" y="1219200"/>
            <a:ext cx="6150300" cy="52937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600"/>
              <a:buFont typeface="Noto Sans Symbols"/>
              <a:buChar char="✔"/>
            </a:pPr>
            <a:r>
              <a:rPr lang="en-US" sz="2600" b="0" i="0" u="none" strike="noStrike" cap="none" dirty="0">
                <a:solidFill>
                  <a:schemeClr val="dk1"/>
                </a:solidFill>
                <a:latin typeface="Calibri"/>
                <a:ea typeface="Calibri"/>
                <a:cs typeface="Calibri"/>
                <a:sym typeface="Calibri"/>
              </a:rPr>
              <a:t> </a:t>
            </a:r>
            <a:r>
              <a:rPr lang="en-US" sz="2600" b="0" i="0" u="none" strike="noStrike" cap="none" dirty="0">
                <a:solidFill>
                  <a:schemeClr val="dk1"/>
                </a:solidFill>
                <a:latin typeface="Times New Roman"/>
                <a:ea typeface="Times New Roman"/>
                <a:cs typeface="Times New Roman"/>
                <a:sym typeface="Times New Roman"/>
              </a:rPr>
              <a:t>Title</a:t>
            </a:r>
            <a:endParaRPr sz="26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Calibri"/>
              <a:buChar char="✔"/>
            </a:pPr>
            <a:r>
              <a:rPr lang="en-US" sz="2600" b="0" i="0" u="none" strike="noStrike" cap="none" dirty="0">
                <a:solidFill>
                  <a:schemeClr val="dk1"/>
                </a:solidFill>
                <a:latin typeface="Calibri"/>
                <a:ea typeface="Calibri"/>
                <a:cs typeface="Calibri"/>
                <a:sym typeface="Calibri"/>
              </a:rPr>
              <a:t> </a:t>
            </a:r>
            <a:r>
              <a:rPr lang="en-US" sz="2600" b="0" i="0" u="none" strike="noStrike" cap="none" dirty="0">
                <a:solidFill>
                  <a:schemeClr val="dk1"/>
                </a:solidFill>
                <a:latin typeface="Times New Roman"/>
                <a:ea typeface="Times New Roman"/>
                <a:cs typeface="Times New Roman"/>
                <a:sym typeface="Times New Roman"/>
              </a:rPr>
              <a:t>Abstract</a:t>
            </a:r>
            <a:endParaRPr sz="26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Calibri"/>
              <a:buChar char="✔"/>
            </a:pPr>
            <a:r>
              <a:rPr lang="en-US" sz="2600" b="0" i="0" u="none" strike="noStrike" cap="none" dirty="0">
                <a:solidFill>
                  <a:schemeClr val="dk1"/>
                </a:solidFill>
                <a:latin typeface="Calibri"/>
                <a:ea typeface="Calibri"/>
                <a:cs typeface="Calibri"/>
                <a:sym typeface="Calibri"/>
              </a:rPr>
              <a:t> </a:t>
            </a:r>
            <a:r>
              <a:rPr lang="en-US" sz="2600" b="0" i="0" u="none" strike="noStrike" cap="none" dirty="0">
                <a:solidFill>
                  <a:schemeClr val="dk1"/>
                </a:solidFill>
                <a:latin typeface="Times New Roman"/>
                <a:ea typeface="Times New Roman"/>
                <a:cs typeface="Times New Roman"/>
                <a:sym typeface="Times New Roman"/>
              </a:rPr>
              <a:t>Introduction</a:t>
            </a:r>
            <a:endParaRPr sz="26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Times New Roman"/>
              <a:buChar char="✔"/>
            </a:pPr>
            <a:r>
              <a:rPr lang="en-US" sz="2600" b="0" i="0" u="none" strike="noStrike" cap="none" dirty="0">
                <a:solidFill>
                  <a:schemeClr val="dk1"/>
                </a:solidFill>
                <a:latin typeface="Times New Roman"/>
                <a:ea typeface="Times New Roman"/>
                <a:cs typeface="Times New Roman"/>
                <a:sym typeface="Times New Roman"/>
              </a:rPr>
              <a:t> Literature Survey</a:t>
            </a:r>
            <a:endParaRPr sz="26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Times New Roman"/>
              <a:buChar char="✔"/>
            </a:pPr>
            <a:r>
              <a:rPr lang="en-US" sz="2600" b="0" i="0" u="none" strike="noStrike" cap="none" dirty="0">
                <a:solidFill>
                  <a:schemeClr val="dk1"/>
                </a:solidFill>
                <a:latin typeface="Times New Roman"/>
                <a:ea typeface="Times New Roman"/>
                <a:cs typeface="Times New Roman"/>
                <a:sym typeface="Times New Roman"/>
              </a:rPr>
              <a:t> Existing System</a:t>
            </a:r>
            <a:r>
              <a:rPr lang="en-IN" sz="2600" dirty="0">
                <a:solidFill>
                  <a:schemeClr val="dk1"/>
                </a:solidFill>
                <a:latin typeface="Times New Roman"/>
                <a:ea typeface="Times New Roman"/>
                <a:cs typeface="Times New Roman"/>
                <a:sym typeface="Times New Roman"/>
              </a:rPr>
              <a:t> </a:t>
            </a:r>
            <a:endParaRPr sz="26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Times New Roman"/>
              <a:buChar char="✔"/>
            </a:pPr>
            <a:r>
              <a:rPr lang="en-US" sz="2600" b="0" i="0" u="none" strike="noStrike" cap="none" dirty="0">
                <a:solidFill>
                  <a:schemeClr val="dk1"/>
                </a:solidFill>
                <a:latin typeface="Times New Roman"/>
                <a:ea typeface="Times New Roman"/>
                <a:cs typeface="Times New Roman"/>
                <a:sym typeface="Times New Roman"/>
              </a:rPr>
              <a:t> Proposed System</a:t>
            </a:r>
            <a:endParaRPr sz="26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Times New Roman"/>
              <a:buChar char="✔"/>
            </a:pPr>
            <a:r>
              <a:rPr lang="en-US" sz="2600" b="0" i="0" u="none" strike="noStrike" cap="none" dirty="0">
                <a:solidFill>
                  <a:schemeClr val="dk1"/>
                </a:solidFill>
                <a:latin typeface="Times New Roman"/>
                <a:ea typeface="Times New Roman"/>
                <a:cs typeface="Times New Roman"/>
                <a:sym typeface="Times New Roman"/>
              </a:rPr>
              <a:t> System Architecture</a:t>
            </a:r>
            <a:endParaRPr sz="26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Times New Roman"/>
              <a:buChar char="✔"/>
            </a:pPr>
            <a:r>
              <a:rPr lang="en-US" sz="2600" b="0" i="0" u="none" strike="noStrike" cap="none" dirty="0">
                <a:solidFill>
                  <a:schemeClr val="dk1"/>
                </a:solidFill>
                <a:latin typeface="Times New Roman"/>
                <a:ea typeface="Times New Roman"/>
                <a:cs typeface="Times New Roman"/>
                <a:sym typeface="Times New Roman"/>
              </a:rPr>
              <a:t> Proposed Methodology</a:t>
            </a:r>
            <a:endParaRPr sz="26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Times New Roman"/>
              <a:buChar char="✔"/>
            </a:pPr>
            <a:r>
              <a:rPr lang="en-US" sz="2600" b="0" i="0" u="none" strike="noStrike" cap="none" dirty="0">
                <a:solidFill>
                  <a:schemeClr val="dk1"/>
                </a:solidFill>
                <a:latin typeface="Times New Roman"/>
                <a:ea typeface="Times New Roman"/>
                <a:cs typeface="Times New Roman"/>
                <a:sym typeface="Times New Roman"/>
              </a:rPr>
              <a:t> Conclusion</a:t>
            </a:r>
          </a:p>
          <a:p>
            <a:pPr marL="0" marR="0" lvl="0" indent="0" algn="l" rtl="0">
              <a:lnSpc>
                <a:spcPct val="100000"/>
              </a:lnSpc>
              <a:spcBef>
                <a:spcPts val="0"/>
              </a:spcBef>
              <a:spcAft>
                <a:spcPts val="0"/>
              </a:spcAft>
              <a:buClr>
                <a:schemeClr val="dk1"/>
              </a:buClr>
              <a:buSzPts val="2600"/>
              <a:buFont typeface="Times New Roman"/>
              <a:buChar char="✔"/>
            </a:pPr>
            <a:r>
              <a:rPr lang="en-US" sz="2600" dirty="0">
                <a:solidFill>
                  <a:schemeClr val="dk1"/>
                </a:solidFill>
                <a:latin typeface="Times New Roman"/>
                <a:ea typeface="Times New Roman"/>
                <a:cs typeface="Times New Roman"/>
                <a:sym typeface="Times New Roman"/>
              </a:rPr>
              <a:t> Results</a:t>
            </a:r>
            <a:endParaRPr sz="26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600"/>
              <a:buFont typeface="Calibri"/>
              <a:buChar char="✔"/>
            </a:pPr>
            <a:r>
              <a:rPr lang="en-US" sz="2600" b="0" i="0" u="none" strike="noStrike" cap="none" dirty="0">
                <a:solidFill>
                  <a:schemeClr val="dk1"/>
                </a:solidFill>
                <a:latin typeface="Calibri"/>
                <a:ea typeface="Calibri"/>
                <a:cs typeface="Calibri"/>
                <a:sym typeface="Calibri"/>
              </a:rPr>
              <a:t> </a:t>
            </a:r>
            <a:r>
              <a:rPr lang="en-US" sz="2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References</a:t>
            </a:r>
            <a:endParaRPr sz="26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457200" marR="0" lvl="0" indent="0" algn="l" rtl="0">
              <a:lnSpc>
                <a:spcPct val="100000"/>
              </a:lnSpc>
              <a:spcBef>
                <a:spcPts val="0"/>
              </a:spcBef>
              <a:spcAft>
                <a:spcPts val="0"/>
              </a:spcAft>
              <a:buClr>
                <a:srgbClr val="000000"/>
              </a:buClr>
              <a:buSzPts val="2600"/>
              <a:buFont typeface="Arial"/>
              <a:buNone/>
            </a:pPr>
            <a:endParaRPr sz="2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600"/>
              <a:buFont typeface="Arial"/>
              <a:buNone/>
            </a:pPr>
            <a:endParaRPr sz="26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4"/>
          <p:cNvSpPr/>
          <p:nvPr/>
        </p:nvSpPr>
        <p:spPr>
          <a:xfrm>
            <a:off x="1214414" y="14840"/>
            <a:ext cx="7715304" cy="842392"/>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ABSTRACT</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7" name="Google Shape;127;p4"/>
          <p:cNvSpPr/>
          <p:nvPr/>
        </p:nvSpPr>
        <p:spPr>
          <a:xfrm>
            <a:off x="0" y="6572272"/>
            <a:ext cx="9144000" cy="285728"/>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28" name="Google Shape;128;p4"/>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129" name="Google Shape;129;p4"/>
          <p:cNvSpPr txBox="1">
            <a:spLocks noGrp="1"/>
          </p:cNvSpPr>
          <p:nvPr>
            <p:ph type="dt" idx="10"/>
          </p:nvPr>
        </p:nvSpPr>
        <p:spPr>
          <a:xfrm>
            <a:off x="142844" y="6572272"/>
            <a:ext cx="2133600" cy="29207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400"/>
              <a:buFont typeface="Arial"/>
              <a:buNone/>
            </a:pPr>
            <a:r>
              <a:rPr lang="en-US" sz="1800" b="1" dirty="0">
                <a:solidFill>
                  <a:schemeClr val="lt1"/>
                </a:solidFill>
              </a:rPr>
              <a:t>06/04/2026</a:t>
            </a:r>
            <a:endParaRPr dirty="0"/>
          </a:p>
        </p:txBody>
      </p:sp>
      <p:sp>
        <p:nvSpPr>
          <p:cNvPr id="130" name="Google Shape;130;p4"/>
          <p:cNvSpPr txBox="1">
            <a:spLocks noGrp="1"/>
          </p:cNvSpPr>
          <p:nvPr>
            <p:ph type="sldNum" idx="12"/>
          </p:nvPr>
        </p:nvSpPr>
        <p:spPr>
          <a:xfrm>
            <a:off x="6724680" y="6500834"/>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4</a:t>
            </a:fld>
            <a:endParaRPr sz="1800" b="1">
              <a:solidFill>
                <a:schemeClr val="lt1"/>
              </a:solidFill>
            </a:endParaRPr>
          </a:p>
        </p:txBody>
      </p:sp>
      <p:sp>
        <p:nvSpPr>
          <p:cNvPr id="131" name="Google Shape;131;p4"/>
          <p:cNvSpPr txBox="1">
            <a:spLocks noGrp="1"/>
          </p:cNvSpPr>
          <p:nvPr>
            <p:ph type="ftr" idx="11"/>
          </p:nvPr>
        </p:nvSpPr>
        <p:spPr>
          <a:xfrm>
            <a:off x="1928794" y="6500834"/>
            <a:ext cx="5591122"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dirty="0">
                <a:solidFill>
                  <a:schemeClr val="lt1"/>
                </a:solidFill>
              </a:rPr>
              <a:t>Department of Allied Computer Science &amp; Engineering</a:t>
            </a:r>
            <a:endParaRPr sz="1800" b="1" dirty="0">
              <a:solidFill>
                <a:schemeClr val="lt1"/>
              </a:solidFill>
            </a:endParaRPr>
          </a:p>
        </p:txBody>
      </p:sp>
      <p:sp>
        <p:nvSpPr>
          <p:cNvPr id="132" name="Google Shape;132;p4"/>
          <p:cNvSpPr/>
          <p:nvPr/>
        </p:nvSpPr>
        <p:spPr>
          <a:xfrm>
            <a:off x="478300" y="971525"/>
            <a:ext cx="8379900" cy="5529300"/>
          </a:xfrm>
          <a:prstGeom prst="rect">
            <a:avLst/>
          </a:prstGeom>
          <a:noFill/>
          <a:ln>
            <a:noFill/>
          </a:ln>
        </p:spPr>
        <p:txBody>
          <a:bodyPr spcFirstLastPara="1" wrap="square" lIns="91425" tIns="45700" rIns="91425" bIns="45700" anchor="t" anchorCtr="0">
            <a:noAutofit/>
          </a:bodyPr>
          <a:lstStyle/>
          <a:p>
            <a:pPr lvl="0" algn="just" eaLnBrk="0" fontAlgn="base" hangingPunct="0">
              <a:lnSpc>
                <a:spcPct val="150000"/>
              </a:lnSpc>
              <a:spcBef>
                <a:spcPct val="0"/>
              </a:spcBef>
              <a:spcAft>
                <a:spcPct val="0"/>
              </a:spcAft>
            </a:pPr>
            <a:r>
              <a:rPr lang="en-US" sz="2000" dirty="0">
                <a:solidFill>
                  <a:schemeClr val="tx1"/>
                </a:solidFill>
                <a:latin typeface="Times New Roman" panose="02020603050405020304" pitchFamily="18" charset="0"/>
                <a:cs typeface="Times New Roman" panose="02020603050405020304" pitchFamily="18" charset="0"/>
              </a:rPr>
              <a:t>India possesses vast cultural, historical, and ecological knowledge distributed across multiple domains, but existing digital exploration platforms are primarily tourism-centric and lack academic depth. This paper proposes an AI-Driven Deep Domain Navigator that enables domain-centric exploration using artificial intelligence and knowledge-based modeling. The system analyzes user preferences and interaction patterns to generate personalized recommendations across domains such as history, architecture, culture, ecology, and medicine. A machine-learning-based personalization engine combined with a knowledge graph structure enables contextual navigation and interdisciplinary discovery, supporting deeper knowledge-driven exploration of India.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1564863b4a4_0_82"/>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INTRODUCTION</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50" name="Google Shape;150;g1564863b4a4_0_82"/>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51" name="Google Shape;151;g1564863b4a4_0_82"/>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152" name="Google Shape;152;g1564863b4a4_0_82"/>
          <p:cNvSpPr txBox="1"/>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1" dirty="0">
                <a:solidFill>
                  <a:schemeClr val="lt1"/>
                </a:solidFill>
                <a:latin typeface="Calibri"/>
                <a:ea typeface="Calibri"/>
                <a:cs typeface="Calibri"/>
                <a:sym typeface="Calibri"/>
              </a:rPr>
              <a:t>06</a:t>
            </a:r>
            <a:r>
              <a:rPr lang="en-US" sz="1800" b="1" i="0" u="none" strike="noStrike" cap="none" dirty="0">
                <a:solidFill>
                  <a:schemeClr val="lt1"/>
                </a:solidFill>
                <a:latin typeface="Calibri"/>
                <a:ea typeface="Calibri"/>
                <a:cs typeface="Calibri"/>
                <a:sym typeface="Calibri"/>
              </a:rPr>
              <a:t>/04/2026</a:t>
            </a:r>
            <a:endParaRPr sz="1400" b="0" i="0" u="none" strike="noStrike" cap="none" dirty="0">
              <a:solidFill>
                <a:srgbClr val="000000"/>
              </a:solidFill>
              <a:latin typeface="Arial"/>
              <a:ea typeface="Arial"/>
              <a:cs typeface="Arial"/>
              <a:sym typeface="Arial"/>
            </a:endParaRPr>
          </a:p>
        </p:txBody>
      </p:sp>
      <p:sp>
        <p:nvSpPr>
          <p:cNvPr id="153" name="Google Shape;153;g1564863b4a4_0_82"/>
          <p:cNvSpPr txBox="1"/>
          <p:nvPr/>
        </p:nvSpPr>
        <p:spPr>
          <a:xfrm>
            <a:off x="6724680" y="6500834"/>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1" i="0" u="none" strike="noStrike" cap="none">
                <a:solidFill>
                  <a:schemeClr val="lt1"/>
                </a:solidFill>
                <a:latin typeface="Calibri"/>
                <a:ea typeface="Calibri"/>
                <a:cs typeface="Calibri"/>
                <a:sym typeface="Calibri"/>
              </a:rPr>
              <a:t>5</a:t>
            </a:fld>
            <a:endParaRPr sz="1800" b="1" i="0" u="none" strike="noStrike" cap="none">
              <a:solidFill>
                <a:schemeClr val="lt1"/>
              </a:solidFill>
              <a:latin typeface="Calibri"/>
              <a:ea typeface="Calibri"/>
              <a:cs typeface="Calibri"/>
              <a:sym typeface="Calibri"/>
            </a:endParaRPr>
          </a:p>
        </p:txBody>
      </p:sp>
      <p:sp>
        <p:nvSpPr>
          <p:cNvPr id="154" name="Google Shape;154;g1564863b4a4_0_82"/>
          <p:cNvSpPr txBox="1"/>
          <p:nvPr/>
        </p:nvSpPr>
        <p:spPr>
          <a:xfrm>
            <a:off x="1928793" y="6500834"/>
            <a:ext cx="5536531"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lt1"/>
                </a:solidFill>
                <a:latin typeface="Calibri"/>
                <a:ea typeface="Calibri"/>
                <a:cs typeface="Calibri"/>
                <a:sym typeface="Calibri"/>
              </a:rPr>
              <a:t>Department of Allied Computer Science &amp; Engineering</a:t>
            </a:r>
            <a:endParaRPr sz="1800" b="1" i="0" u="none" strike="noStrike" cap="none" dirty="0">
              <a:solidFill>
                <a:schemeClr val="lt1"/>
              </a:solidFill>
              <a:latin typeface="Calibri"/>
              <a:ea typeface="Calibri"/>
              <a:cs typeface="Calibri"/>
              <a:sym typeface="Calibri"/>
            </a:endParaRPr>
          </a:p>
        </p:txBody>
      </p:sp>
      <p:sp>
        <p:nvSpPr>
          <p:cNvPr id="155" name="Google Shape;155;g1564863b4a4_0_82"/>
          <p:cNvSpPr/>
          <p:nvPr/>
        </p:nvSpPr>
        <p:spPr>
          <a:xfrm>
            <a:off x="520505" y="928670"/>
            <a:ext cx="8409130" cy="5564102"/>
          </a:xfrm>
          <a:prstGeom prst="rect">
            <a:avLst/>
          </a:prstGeom>
          <a:noFill/>
          <a:ln>
            <a:noFill/>
          </a:ln>
        </p:spPr>
        <p:txBody>
          <a:bodyPr spcFirstLastPara="1" wrap="square" lIns="91425" tIns="45700" rIns="91425" bIns="45700" anchor="t" anchorCtr="0">
            <a:noAutofit/>
          </a:bodyPr>
          <a:lstStyle/>
          <a:p>
            <a:pPr algn="just">
              <a:lnSpc>
                <a:spcPct val="150000"/>
              </a:lnSpc>
            </a:pPr>
            <a:r>
              <a:rPr lang="en-US" sz="2000" dirty="0">
                <a:latin typeface="Times New Roman" panose="02020603050405020304" pitchFamily="18" charset="0"/>
                <a:cs typeface="Times New Roman" panose="02020603050405020304" pitchFamily="18" charset="0"/>
              </a:rPr>
              <a:t>India represents one of the most knowledge-intensive civilizations in the world, with centuries of historical evolution, architectural development, ecological diversity, medicinal systems, and educational institutions. traditions, cultural expressions, river-based civilizations, forest ecosystems, maritime trade networks, and indigenous scientific knowledge. Despite this exceptional depth, the existing digital infrastructure of exploration remains fundamentally limited by its design based on tourism centric principles. Modern platforms provide basic travel attractions which include popular destinations and convenient travel timetables and commercially advertised places and user feedback. The existing system creates an operational barrier which prevents dedicated students and researchers and subject matter experts from accessing the complete potential of digital research tools. </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5"/>
          <p:cNvSpPr/>
          <p:nvPr/>
        </p:nvSpPr>
        <p:spPr>
          <a:xfrm>
            <a:off x="1214414" y="14840"/>
            <a:ext cx="7715304" cy="842392"/>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INTRODUCTION</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39" name="Google Shape;139;p5"/>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40" name="Google Shape;140;p5"/>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141" name="Google Shape;141;p5"/>
          <p:cNvSpPr txBox="1">
            <a:spLocks noGrp="1"/>
          </p:cNvSpPr>
          <p:nvPr>
            <p:ph type="dt" idx="10"/>
          </p:nvPr>
        </p:nvSpPr>
        <p:spPr>
          <a:xfrm>
            <a:off x="142844" y="6572272"/>
            <a:ext cx="2133600" cy="29207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06/04/2026</a:t>
            </a:r>
            <a:endParaRPr dirty="0"/>
          </a:p>
        </p:txBody>
      </p:sp>
      <p:sp>
        <p:nvSpPr>
          <p:cNvPr id="142" name="Google Shape;142;p5"/>
          <p:cNvSpPr txBox="1">
            <a:spLocks noGrp="1"/>
          </p:cNvSpPr>
          <p:nvPr>
            <p:ph type="sldNum" idx="12"/>
          </p:nvPr>
        </p:nvSpPr>
        <p:spPr>
          <a:xfrm>
            <a:off x="6724680" y="6500822"/>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6</a:t>
            </a:fld>
            <a:endParaRPr sz="1800" b="1">
              <a:solidFill>
                <a:schemeClr val="lt1"/>
              </a:solidFill>
            </a:endParaRPr>
          </a:p>
        </p:txBody>
      </p:sp>
      <p:sp>
        <p:nvSpPr>
          <p:cNvPr id="143" name="Google Shape;143;p5"/>
          <p:cNvSpPr txBox="1">
            <a:spLocks noGrp="1"/>
          </p:cNvSpPr>
          <p:nvPr>
            <p:ph type="ftr" idx="11"/>
          </p:nvPr>
        </p:nvSpPr>
        <p:spPr>
          <a:xfrm>
            <a:off x="2097575" y="6500825"/>
            <a:ext cx="5708944"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dirty="0">
                <a:solidFill>
                  <a:schemeClr val="lt1"/>
                </a:solidFill>
              </a:rPr>
              <a:t>     Department of Allied Computer Science &amp; Engineering</a:t>
            </a:r>
            <a:endParaRPr sz="1800" b="1" dirty="0">
              <a:solidFill>
                <a:schemeClr val="lt1"/>
              </a:solidFill>
            </a:endParaRPr>
          </a:p>
        </p:txBody>
      </p:sp>
      <p:sp>
        <p:nvSpPr>
          <p:cNvPr id="144" name="Google Shape;144;p5"/>
          <p:cNvSpPr/>
          <p:nvPr/>
        </p:nvSpPr>
        <p:spPr>
          <a:xfrm>
            <a:off x="534572" y="928679"/>
            <a:ext cx="8609428" cy="5429918"/>
          </a:xfrm>
          <a:prstGeom prst="rect">
            <a:avLst/>
          </a:prstGeom>
          <a:noFill/>
          <a:ln>
            <a:noFill/>
          </a:ln>
        </p:spPr>
        <p:txBody>
          <a:bodyPr spcFirstLastPara="1" wrap="square" lIns="91425" tIns="45700" rIns="91425" bIns="45700" anchor="t" anchorCtr="0">
            <a:noAutofit/>
          </a:bodyPr>
          <a:lstStyle/>
          <a:p>
            <a:pPr marL="101600" marR="231467" algn="just">
              <a:lnSpc>
                <a:spcPct val="150000"/>
              </a:lnSpc>
              <a:buClr>
                <a:schemeClr val="dk1"/>
              </a:buClr>
              <a:buSzPts val="2000"/>
            </a:pPr>
            <a:r>
              <a:rPr lang="en-US" sz="2000" dirty="0">
                <a:latin typeface="Times New Roman" panose="02020603050405020304" pitchFamily="18" charset="0"/>
                <a:cs typeface="Times New Roman" panose="02020603050405020304" pitchFamily="18" charset="0"/>
              </a:rPr>
              <a:t>The absence of any structured framework for domain-specific research analysis which exists in the current expanding digital ecosystem of India creates major obstacles to achieving knowledge-based navigation across the country at large. Students and researchers need access to thematic learning tools while educators require integrated visualization platforms and cultural explorers need verified contextual intelligence. The exploration process remains highly fragmented unstructured and dedicated to conducting manual searches through separate data repositories. The Deep Domain Navigator for India which the paper presents introduces a new digital exploration system that enables users to discover content through its Deep Domain Navigator system.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g1564863b4a4_0_15"/>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a:buNone/>
            </a:pPr>
            <a:r>
              <a:rPr lang="en-US" sz="36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LITERATURE SURVEY</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61" name="Google Shape;161;g1564863b4a4_0_15"/>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2" name="Google Shape;162;g1564863b4a4_0_15"/>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163" name="Google Shape;163;g1564863b4a4_0_15"/>
          <p:cNvSpPr txBox="1"/>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1" dirty="0">
                <a:solidFill>
                  <a:schemeClr val="lt1"/>
                </a:solidFill>
                <a:latin typeface="Calibri"/>
                <a:ea typeface="Calibri"/>
                <a:cs typeface="Calibri"/>
                <a:sym typeface="Calibri"/>
              </a:rPr>
              <a:t>06</a:t>
            </a:r>
            <a:r>
              <a:rPr lang="en-US" sz="1800" b="1" i="0" u="none" strike="noStrike" cap="none" dirty="0">
                <a:solidFill>
                  <a:schemeClr val="lt1"/>
                </a:solidFill>
                <a:latin typeface="Calibri"/>
                <a:ea typeface="Calibri"/>
                <a:cs typeface="Calibri"/>
                <a:sym typeface="Calibri"/>
              </a:rPr>
              <a:t>/04/2026</a:t>
            </a:r>
            <a:endParaRPr sz="1400" b="0" i="0" u="none" strike="noStrike" cap="none" dirty="0">
              <a:solidFill>
                <a:srgbClr val="000000"/>
              </a:solidFill>
              <a:latin typeface="Arial"/>
              <a:ea typeface="Arial"/>
              <a:cs typeface="Arial"/>
              <a:sym typeface="Arial"/>
            </a:endParaRPr>
          </a:p>
        </p:txBody>
      </p:sp>
      <p:sp>
        <p:nvSpPr>
          <p:cNvPr id="164" name="Google Shape;164;g1564863b4a4_0_15"/>
          <p:cNvSpPr txBox="1"/>
          <p:nvPr/>
        </p:nvSpPr>
        <p:spPr>
          <a:xfrm>
            <a:off x="6724680" y="6500834"/>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1" i="0" u="none" strike="noStrike" cap="none">
                <a:solidFill>
                  <a:schemeClr val="lt1"/>
                </a:solidFill>
                <a:latin typeface="Calibri"/>
                <a:ea typeface="Calibri"/>
                <a:cs typeface="Calibri"/>
                <a:sym typeface="Calibri"/>
              </a:rPr>
              <a:t>7</a:t>
            </a:fld>
            <a:endParaRPr sz="1800" b="1" i="0" u="none" strike="noStrike" cap="none">
              <a:solidFill>
                <a:schemeClr val="lt1"/>
              </a:solidFill>
              <a:latin typeface="Calibri"/>
              <a:ea typeface="Calibri"/>
              <a:cs typeface="Calibri"/>
              <a:sym typeface="Calibri"/>
            </a:endParaRPr>
          </a:p>
        </p:txBody>
      </p:sp>
      <p:sp>
        <p:nvSpPr>
          <p:cNvPr id="165" name="Google Shape;165;g1564863b4a4_0_15"/>
          <p:cNvSpPr txBox="1"/>
          <p:nvPr/>
        </p:nvSpPr>
        <p:spPr>
          <a:xfrm>
            <a:off x="1928794" y="6500834"/>
            <a:ext cx="5713952"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lt1"/>
                </a:solidFill>
                <a:latin typeface="Calibri"/>
                <a:ea typeface="Calibri"/>
                <a:cs typeface="Calibri"/>
                <a:sym typeface="Calibri"/>
              </a:rPr>
              <a:t>Department of Allied Computer Science &amp; Engineering</a:t>
            </a:r>
            <a:endParaRPr sz="1800" b="1" i="0" u="none" strike="noStrike" cap="none" dirty="0">
              <a:solidFill>
                <a:schemeClr val="lt1"/>
              </a:solidFill>
              <a:latin typeface="Calibri"/>
              <a:ea typeface="Calibri"/>
              <a:cs typeface="Calibri"/>
              <a:sym typeface="Calibri"/>
            </a:endParaRPr>
          </a:p>
        </p:txBody>
      </p:sp>
      <p:graphicFrame>
        <p:nvGraphicFramePr>
          <p:cNvPr id="166" name="Google Shape;166;g1564863b4a4_0_15"/>
          <p:cNvGraphicFramePr/>
          <p:nvPr>
            <p:extLst>
              <p:ext uri="{D42A27DB-BD31-4B8C-83A1-F6EECF244321}">
                <p14:modId xmlns:p14="http://schemas.microsoft.com/office/powerpoint/2010/main" val="3032435850"/>
              </p:ext>
            </p:extLst>
          </p:nvPr>
        </p:nvGraphicFramePr>
        <p:xfrm>
          <a:off x="434150" y="1007560"/>
          <a:ext cx="8531975" cy="5391275"/>
        </p:xfrm>
        <a:graphic>
          <a:graphicData uri="http://schemas.openxmlformats.org/drawingml/2006/table">
            <a:tbl>
              <a:tblPr>
                <a:noFill/>
                <a:tableStyleId>{C84FF9F9-83FF-4686-BF48-736AEC0F4FCA}</a:tableStyleId>
              </a:tblPr>
              <a:tblGrid>
                <a:gridCol w="617875">
                  <a:extLst>
                    <a:ext uri="{9D8B030D-6E8A-4147-A177-3AD203B41FA5}">
                      <a16:colId xmlns:a16="http://schemas.microsoft.com/office/drawing/2014/main" val="20000"/>
                    </a:ext>
                  </a:extLst>
                </a:gridCol>
                <a:gridCol w="1596725">
                  <a:extLst>
                    <a:ext uri="{9D8B030D-6E8A-4147-A177-3AD203B41FA5}">
                      <a16:colId xmlns:a16="http://schemas.microsoft.com/office/drawing/2014/main" val="20001"/>
                    </a:ext>
                  </a:extLst>
                </a:gridCol>
                <a:gridCol w="1683950">
                  <a:extLst>
                    <a:ext uri="{9D8B030D-6E8A-4147-A177-3AD203B41FA5}">
                      <a16:colId xmlns:a16="http://schemas.microsoft.com/office/drawing/2014/main" val="20002"/>
                    </a:ext>
                  </a:extLst>
                </a:gridCol>
                <a:gridCol w="2450325">
                  <a:extLst>
                    <a:ext uri="{9D8B030D-6E8A-4147-A177-3AD203B41FA5}">
                      <a16:colId xmlns:a16="http://schemas.microsoft.com/office/drawing/2014/main" val="20003"/>
                    </a:ext>
                  </a:extLst>
                </a:gridCol>
                <a:gridCol w="2183100">
                  <a:extLst>
                    <a:ext uri="{9D8B030D-6E8A-4147-A177-3AD203B41FA5}">
                      <a16:colId xmlns:a16="http://schemas.microsoft.com/office/drawing/2014/main" val="20004"/>
                    </a:ext>
                  </a:extLst>
                </a:gridCol>
              </a:tblGrid>
              <a:tr h="1148425">
                <a:tc>
                  <a:txBody>
                    <a:bodyPr/>
                    <a:lstStyle/>
                    <a:p>
                      <a:pPr marL="0" marR="0" lvl="0" indent="0" algn="ctr" rtl="0">
                        <a:lnSpc>
                          <a:spcPct val="100000"/>
                        </a:lnSpc>
                        <a:spcBef>
                          <a:spcPts val="0"/>
                        </a:spcBef>
                        <a:spcAft>
                          <a:spcPts val="0"/>
                        </a:spcAft>
                        <a:buClr>
                          <a:srgbClr val="000000"/>
                        </a:buClr>
                        <a:buSzPts val="1400"/>
                        <a:buFont typeface="Arial"/>
                        <a:buNone/>
                      </a:pPr>
                      <a:r>
                        <a:rPr lang="en-US" sz="1500" b="1" u="none" strike="noStrike" cap="none">
                          <a:latin typeface="Times New Roman" panose="02020603050405020304" pitchFamily="18" charset="0"/>
                          <a:cs typeface="Times New Roman" panose="02020603050405020304" pitchFamily="18" charset="0"/>
                        </a:rPr>
                        <a:t>S.No</a:t>
                      </a:r>
                      <a:endParaRPr sz="1500" b="1" u="none" strike="noStrike" cap="none">
                        <a:latin typeface="Times New Roman" panose="02020603050405020304" pitchFamily="18" charset="0"/>
                        <a:cs typeface="Times New Roman" panose="02020603050405020304" pitchFamily="18" charset="0"/>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500" b="1" u="none" strike="noStrike" cap="none" dirty="0">
                          <a:latin typeface="Times New Roman" panose="02020603050405020304" pitchFamily="18" charset="0"/>
                          <a:cs typeface="Times New Roman" panose="02020603050405020304" pitchFamily="18" charset="0"/>
                        </a:rPr>
                        <a:t>Paper Title</a:t>
                      </a:r>
                      <a:endParaRPr sz="1500" b="1" u="none" strike="noStrike" cap="none" dirty="0">
                        <a:latin typeface="Times New Roman" panose="02020603050405020304" pitchFamily="18" charset="0"/>
                        <a:cs typeface="Times New Roman" panose="02020603050405020304" pitchFamily="18" charset="0"/>
                      </a:endParaRPr>
                    </a:p>
                  </a:txBody>
                  <a:tcPr marL="91425" marR="91425" marT="91425" marB="91425" anchor="ctr"/>
                </a:tc>
                <a:tc>
                  <a:txBody>
                    <a:bodyPr/>
                    <a:lstStyle/>
                    <a:p>
                      <a:pPr marL="0" marR="0" lvl="0" indent="0" algn="ctr" rtl="0">
                        <a:lnSpc>
                          <a:spcPct val="100000"/>
                        </a:lnSpc>
                        <a:spcBef>
                          <a:spcPts val="0"/>
                        </a:spcBef>
                        <a:spcAft>
                          <a:spcPts val="0"/>
                        </a:spcAft>
                        <a:buClr>
                          <a:schemeClr val="dk1"/>
                        </a:buClr>
                        <a:buSzPts val="1400"/>
                        <a:buFont typeface="Arial"/>
                        <a:buNone/>
                      </a:pPr>
                      <a:r>
                        <a:rPr lang="en-US" sz="1500" b="1" u="none" strike="noStrike" cap="none">
                          <a:solidFill>
                            <a:schemeClr val="dk1"/>
                          </a:solidFill>
                          <a:latin typeface="Times New Roman" panose="02020603050405020304" pitchFamily="18" charset="0"/>
                          <a:cs typeface="Times New Roman" panose="02020603050405020304" pitchFamily="18" charset="0"/>
                        </a:rPr>
                        <a:t>Methodology</a:t>
                      </a:r>
                      <a:endParaRPr sz="1500" b="1" u="none" strike="noStrike" cap="none">
                        <a:latin typeface="Times New Roman" panose="02020603050405020304" pitchFamily="18" charset="0"/>
                        <a:cs typeface="Times New Roman" panose="02020603050405020304" pitchFamily="18" charset="0"/>
                      </a:endParaRPr>
                    </a:p>
                  </a:txBody>
                  <a:tcPr marL="91425" marR="91425" marT="91425" marB="91425" anchor="ctr"/>
                </a:tc>
                <a:tc>
                  <a:txBody>
                    <a:bodyPr/>
                    <a:lstStyle/>
                    <a:p>
                      <a:pPr marL="0" marR="0" lvl="0" indent="0" algn="ctr" rtl="0">
                        <a:lnSpc>
                          <a:spcPct val="100000"/>
                        </a:lnSpc>
                        <a:spcBef>
                          <a:spcPts val="0"/>
                        </a:spcBef>
                        <a:spcAft>
                          <a:spcPts val="0"/>
                        </a:spcAft>
                        <a:buClr>
                          <a:schemeClr val="dk1"/>
                        </a:buClr>
                        <a:buSzPts val="1400"/>
                        <a:buFont typeface="Arial"/>
                        <a:buNone/>
                      </a:pPr>
                      <a:r>
                        <a:rPr lang="en-US" sz="1500" b="1" u="none" strike="noStrike" cap="none">
                          <a:solidFill>
                            <a:schemeClr val="dk1"/>
                          </a:solidFill>
                          <a:latin typeface="Times New Roman" panose="02020603050405020304" pitchFamily="18" charset="0"/>
                          <a:cs typeface="Times New Roman" panose="02020603050405020304" pitchFamily="18" charset="0"/>
                        </a:rPr>
                        <a:t>Drawbacks</a:t>
                      </a:r>
                      <a:endParaRPr sz="1500" b="1" u="none" strike="noStrike" cap="none">
                        <a:latin typeface="Times New Roman" panose="02020603050405020304" pitchFamily="18" charset="0"/>
                        <a:cs typeface="Times New Roman" panose="02020603050405020304" pitchFamily="18" charset="0"/>
                      </a:endParaRPr>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US" sz="1500" b="1" u="none" strike="noStrike" cap="none" dirty="0">
                          <a:latin typeface="Times New Roman" panose="02020603050405020304" pitchFamily="18" charset="0"/>
                          <a:cs typeface="Times New Roman" panose="02020603050405020304" pitchFamily="18" charset="0"/>
                        </a:rPr>
                        <a:t>Proposed Methodology to overcome those drawbacks</a:t>
                      </a:r>
                      <a:endParaRPr sz="1500" b="1" u="none" strike="noStrike" cap="none" dirty="0">
                        <a:latin typeface="Times New Roman" panose="02020603050405020304" pitchFamily="18" charset="0"/>
                        <a:cs typeface="Times New Roman" panose="02020603050405020304" pitchFamily="18" charset="0"/>
                      </a:endParaRPr>
                    </a:p>
                  </a:txBody>
                  <a:tcPr marL="91425" marR="91425" marT="91425" marB="91425" anchor="ctr"/>
                </a:tc>
                <a:extLst>
                  <a:ext uri="{0D108BD9-81ED-4DB2-BD59-A6C34878D82A}">
                    <a16:rowId xmlns:a16="http://schemas.microsoft.com/office/drawing/2014/main" val="10000"/>
                  </a:ext>
                </a:extLst>
              </a:tr>
              <a:tr h="4048275">
                <a:tc>
                  <a:txBody>
                    <a:bodyPr/>
                    <a:lstStyle/>
                    <a:p>
                      <a:pPr marL="0" marR="704128" lvl="0" indent="0" algn="just" rtl="0">
                        <a:lnSpc>
                          <a:spcPct val="100000"/>
                        </a:lnSpc>
                        <a:spcBef>
                          <a:spcPts val="0"/>
                        </a:spcBef>
                        <a:spcAft>
                          <a:spcPts val="0"/>
                        </a:spcAft>
                        <a:buClr>
                          <a:srgbClr val="000000"/>
                        </a:buClr>
                        <a:buSzPts val="1400"/>
                        <a:buFont typeface="Arial"/>
                        <a:buNone/>
                      </a:pPr>
                      <a:r>
                        <a:rPr lang="en-US" sz="1700" u="none" strike="noStrike" cap="none"/>
                        <a:t>1.</a:t>
                      </a:r>
                      <a:endParaRPr sz="1700" u="none" strike="noStrike" cap="none"/>
                    </a:p>
                  </a:txBody>
                  <a:tcPr marL="91425" marR="91425" marT="91425" marB="91425"/>
                </a:tc>
                <a:tc>
                  <a:txBody>
                    <a:bodyPr/>
                    <a:lstStyle/>
                    <a:p>
                      <a:pPr marL="0" marR="0" lvl="0" indent="0" algn="just" rtl="0">
                        <a:lnSpc>
                          <a:spcPct val="150000"/>
                        </a:lnSpc>
                        <a:spcBef>
                          <a:spcPts val="0"/>
                        </a:spcBef>
                        <a:spcAft>
                          <a:spcPts val="0"/>
                        </a:spcAft>
                        <a:buClr>
                          <a:schemeClr val="dk1"/>
                        </a:buClr>
                        <a:buSzPts val="2000"/>
                        <a:buFont typeface="Arial"/>
                        <a:buNone/>
                      </a:pPr>
                      <a:r>
                        <a:rPr lang="en-US" sz="2000" u="none" strike="noStrike" cap="none" dirty="0">
                          <a:solidFill>
                            <a:schemeClr val="dk1"/>
                          </a:solidFill>
                          <a:latin typeface="Times New Roman"/>
                          <a:ea typeface="Times New Roman"/>
                          <a:cs typeface="Times New Roman"/>
                          <a:sym typeface="Times New Roman"/>
                        </a:rPr>
                        <a:t>AI-Powered Travel Recommendation Systems</a:t>
                      </a:r>
                      <a:endParaRPr sz="2000" u="none" strike="noStrike" cap="none" dirty="0"/>
                    </a:p>
                  </a:txBody>
                  <a:tcPr marL="91425" marR="91425" marT="91425" marB="91425"/>
                </a:tc>
                <a:tc>
                  <a:txBody>
                    <a:bodyPr/>
                    <a:lstStyle/>
                    <a:p>
                      <a:pPr marL="0" marR="0" lvl="0" indent="0" algn="just" rtl="0">
                        <a:lnSpc>
                          <a:spcPct val="150000"/>
                        </a:lnSpc>
                        <a:spcBef>
                          <a:spcPts val="0"/>
                        </a:spcBef>
                        <a:spcAft>
                          <a:spcPts val="0"/>
                        </a:spcAft>
                        <a:buClr>
                          <a:schemeClr val="dk1"/>
                        </a:buClr>
                        <a:buSzPts val="2000"/>
                        <a:buFont typeface="Arial"/>
                        <a:buNone/>
                      </a:pPr>
                      <a:r>
                        <a:rPr lang="en-US" sz="2000" dirty="0">
                          <a:latin typeface="Times New Roman" panose="02020603050405020304" pitchFamily="18" charset="0"/>
                          <a:cs typeface="Times New Roman" panose="02020603050405020304" pitchFamily="18" charset="0"/>
                        </a:rPr>
                        <a:t>Machine Learning and recommendation algorithms used to suggest destinations based on user preferences</a:t>
                      </a:r>
                      <a:endParaRPr sz="2000" u="none" strike="noStrike" cap="none" dirty="0">
                        <a:latin typeface="Times New Roman" panose="02020603050405020304" pitchFamily="18" charset="0"/>
                        <a:cs typeface="Times New Roman" panose="02020603050405020304" pitchFamily="18" charset="0"/>
                      </a:endParaRPr>
                    </a:p>
                  </a:txBody>
                  <a:tcPr marL="91425" marR="91425" marT="91425" marB="91425"/>
                </a:tc>
                <a:tc>
                  <a:txBody>
                    <a:bodyPr/>
                    <a:lstStyle/>
                    <a:p>
                      <a:pPr marL="0" marR="0" lvl="0" indent="0" algn="just" rtl="0">
                        <a:lnSpc>
                          <a:spcPct val="150000"/>
                        </a:lnSpc>
                        <a:spcBef>
                          <a:spcPts val="0"/>
                        </a:spcBef>
                        <a:spcAft>
                          <a:spcPts val="0"/>
                        </a:spcAft>
                        <a:buClr>
                          <a:schemeClr val="dk1"/>
                        </a:buClr>
                        <a:buSzPts val="2000"/>
                        <a:buFont typeface="Arial"/>
                        <a:buNone/>
                      </a:pPr>
                      <a:r>
                        <a:rPr lang="en-US" sz="2000" dirty="0">
                          <a:latin typeface="Times New Roman" panose="02020603050405020304" pitchFamily="18" charset="0"/>
                          <a:cs typeface="Times New Roman" panose="02020603050405020304" pitchFamily="18" charset="0"/>
                        </a:rPr>
                        <a:t>Limited personalization, often ignores budget and cultural context</a:t>
                      </a:r>
                      <a:endParaRPr sz="20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tc>
                <a:tc>
                  <a:txBody>
                    <a:bodyPr/>
                    <a:lstStyle/>
                    <a:p>
                      <a:pPr marL="0" marR="0" lvl="0" indent="0" algn="just" rtl="0">
                        <a:lnSpc>
                          <a:spcPct val="150000"/>
                        </a:lnSpc>
                        <a:spcBef>
                          <a:spcPts val="0"/>
                        </a:spcBef>
                        <a:spcAft>
                          <a:spcPts val="0"/>
                        </a:spcAft>
                        <a:buClr>
                          <a:schemeClr val="dk1"/>
                        </a:buClr>
                        <a:buSzPts val="2000"/>
                        <a:buFont typeface="Arial"/>
                        <a:buNone/>
                      </a:pPr>
                      <a:r>
                        <a:rPr lang="en-US" sz="2000" dirty="0">
                          <a:latin typeface="Times New Roman" panose="02020603050405020304" pitchFamily="18" charset="0"/>
                          <a:cs typeface="Times New Roman" panose="02020603050405020304" pitchFamily="18" charset="0"/>
                        </a:rPr>
                        <a:t>Integration of AI chatbot with real-time filtering (budget, category, location)</a:t>
                      </a:r>
                      <a:endParaRPr sz="20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g1c568adccc6_0_31"/>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a:buNone/>
            </a:pPr>
            <a:r>
              <a:rPr lang="en-US" sz="36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LITERATURE SURVEY</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72" name="Google Shape;172;g1c568adccc6_0_31"/>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73" name="Google Shape;173;g1c568adccc6_0_31"/>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174" name="Google Shape;174;g1c568adccc6_0_31"/>
          <p:cNvSpPr txBox="1"/>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1" dirty="0">
                <a:solidFill>
                  <a:schemeClr val="lt1"/>
                </a:solidFill>
                <a:latin typeface="Calibri"/>
                <a:ea typeface="Calibri"/>
                <a:cs typeface="Calibri"/>
                <a:sym typeface="Calibri"/>
              </a:rPr>
              <a:t>06</a:t>
            </a:r>
            <a:r>
              <a:rPr lang="en-US" sz="1800" b="1" i="0" u="none" strike="noStrike" cap="none" dirty="0">
                <a:solidFill>
                  <a:schemeClr val="lt1"/>
                </a:solidFill>
                <a:latin typeface="Calibri"/>
                <a:ea typeface="Calibri"/>
                <a:cs typeface="Calibri"/>
                <a:sym typeface="Calibri"/>
              </a:rPr>
              <a:t>/04/2026</a:t>
            </a:r>
            <a:endParaRPr sz="1400" b="0" i="0" u="none" strike="noStrike" cap="none" dirty="0">
              <a:solidFill>
                <a:srgbClr val="000000"/>
              </a:solidFill>
              <a:latin typeface="Arial"/>
              <a:ea typeface="Arial"/>
              <a:cs typeface="Arial"/>
              <a:sym typeface="Arial"/>
            </a:endParaRPr>
          </a:p>
        </p:txBody>
      </p:sp>
      <p:sp>
        <p:nvSpPr>
          <p:cNvPr id="175" name="Google Shape;175;g1c568adccc6_0_31"/>
          <p:cNvSpPr txBox="1"/>
          <p:nvPr/>
        </p:nvSpPr>
        <p:spPr>
          <a:xfrm>
            <a:off x="6724680" y="6500834"/>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1" i="0" u="none" strike="noStrike" cap="none">
                <a:solidFill>
                  <a:schemeClr val="lt1"/>
                </a:solidFill>
                <a:latin typeface="Calibri"/>
                <a:ea typeface="Calibri"/>
                <a:cs typeface="Calibri"/>
                <a:sym typeface="Calibri"/>
              </a:rPr>
              <a:t>8</a:t>
            </a:fld>
            <a:endParaRPr sz="1800" b="1" i="0" u="none" strike="noStrike" cap="none">
              <a:solidFill>
                <a:schemeClr val="lt1"/>
              </a:solidFill>
              <a:latin typeface="Calibri"/>
              <a:ea typeface="Calibri"/>
              <a:cs typeface="Calibri"/>
              <a:sym typeface="Calibri"/>
            </a:endParaRPr>
          </a:p>
        </p:txBody>
      </p:sp>
      <p:sp>
        <p:nvSpPr>
          <p:cNvPr id="176" name="Google Shape;176;g1c568adccc6_0_31"/>
          <p:cNvSpPr txBox="1"/>
          <p:nvPr/>
        </p:nvSpPr>
        <p:spPr>
          <a:xfrm>
            <a:off x="1928794" y="6500834"/>
            <a:ext cx="5591122"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lt1"/>
                </a:solidFill>
                <a:latin typeface="Calibri"/>
                <a:ea typeface="Calibri"/>
                <a:cs typeface="Calibri"/>
                <a:sym typeface="Calibri"/>
              </a:rPr>
              <a:t>Department of Allied Computer Science &amp; Engineering</a:t>
            </a:r>
            <a:endParaRPr sz="1800" b="1" i="0" u="none" strike="noStrike" cap="none" dirty="0">
              <a:solidFill>
                <a:schemeClr val="lt1"/>
              </a:solidFill>
              <a:latin typeface="Calibri"/>
              <a:ea typeface="Calibri"/>
              <a:cs typeface="Calibri"/>
              <a:sym typeface="Calibri"/>
            </a:endParaRPr>
          </a:p>
        </p:txBody>
      </p:sp>
      <p:graphicFrame>
        <p:nvGraphicFramePr>
          <p:cNvPr id="177" name="Google Shape;177;g1c568adccc6_0_31"/>
          <p:cNvGraphicFramePr/>
          <p:nvPr>
            <p:extLst>
              <p:ext uri="{D42A27DB-BD31-4B8C-83A1-F6EECF244321}">
                <p14:modId xmlns:p14="http://schemas.microsoft.com/office/powerpoint/2010/main" val="1707878897"/>
              </p:ext>
            </p:extLst>
          </p:nvPr>
        </p:nvGraphicFramePr>
        <p:xfrm>
          <a:off x="326275" y="997160"/>
          <a:ext cx="8532000" cy="4660650"/>
        </p:xfrm>
        <a:graphic>
          <a:graphicData uri="http://schemas.openxmlformats.org/drawingml/2006/table">
            <a:tbl>
              <a:tblPr>
                <a:noFill/>
                <a:tableStyleId>{C84FF9F9-83FF-4686-BF48-736AEC0F4FCA}</a:tableStyleId>
              </a:tblPr>
              <a:tblGrid>
                <a:gridCol w="636600">
                  <a:extLst>
                    <a:ext uri="{9D8B030D-6E8A-4147-A177-3AD203B41FA5}">
                      <a16:colId xmlns:a16="http://schemas.microsoft.com/office/drawing/2014/main" val="20000"/>
                    </a:ext>
                  </a:extLst>
                </a:gridCol>
                <a:gridCol w="1792100">
                  <a:extLst>
                    <a:ext uri="{9D8B030D-6E8A-4147-A177-3AD203B41FA5}">
                      <a16:colId xmlns:a16="http://schemas.microsoft.com/office/drawing/2014/main" val="20001"/>
                    </a:ext>
                  </a:extLst>
                </a:gridCol>
                <a:gridCol w="1921150">
                  <a:extLst>
                    <a:ext uri="{9D8B030D-6E8A-4147-A177-3AD203B41FA5}">
                      <a16:colId xmlns:a16="http://schemas.microsoft.com/office/drawing/2014/main" val="20002"/>
                    </a:ext>
                  </a:extLst>
                </a:gridCol>
                <a:gridCol w="1783825">
                  <a:extLst>
                    <a:ext uri="{9D8B030D-6E8A-4147-A177-3AD203B41FA5}">
                      <a16:colId xmlns:a16="http://schemas.microsoft.com/office/drawing/2014/main" val="20003"/>
                    </a:ext>
                  </a:extLst>
                </a:gridCol>
                <a:gridCol w="2398325">
                  <a:extLst>
                    <a:ext uri="{9D8B030D-6E8A-4147-A177-3AD203B41FA5}">
                      <a16:colId xmlns:a16="http://schemas.microsoft.com/office/drawing/2014/main" val="20004"/>
                    </a:ext>
                  </a:extLst>
                </a:gridCol>
              </a:tblGrid>
              <a:tr h="962575">
                <a:tc>
                  <a:txBody>
                    <a:bodyPr/>
                    <a:lstStyle/>
                    <a:p>
                      <a:pPr marL="0" marR="0" lvl="0" indent="0" algn="ctr" rtl="0">
                        <a:lnSpc>
                          <a:spcPct val="100000"/>
                        </a:lnSpc>
                        <a:spcBef>
                          <a:spcPts val="0"/>
                        </a:spcBef>
                        <a:spcAft>
                          <a:spcPts val="0"/>
                        </a:spcAft>
                        <a:buClr>
                          <a:srgbClr val="000000"/>
                        </a:buClr>
                        <a:buSzPts val="1400"/>
                        <a:buFont typeface="Arial"/>
                        <a:buNone/>
                      </a:pPr>
                      <a:r>
                        <a:rPr lang="en-US" sz="1500" b="1" u="none" strike="noStrike" cap="none">
                          <a:effectLst/>
                          <a:latin typeface="Times New Roman" panose="02020603050405020304" pitchFamily="18" charset="0"/>
                          <a:cs typeface="Times New Roman" panose="02020603050405020304" pitchFamily="18" charset="0"/>
                        </a:rPr>
                        <a:t>S.No</a:t>
                      </a:r>
                      <a:endParaRPr sz="1500" b="1" u="none" strike="noStrike" cap="none">
                        <a:effectLst/>
                        <a:latin typeface="Times New Roman" panose="02020603050405020304" pitchFamily="18" charset="0"/>
                        <a:cs typeface="Times New Roman" panose="02020603050405020304" pitchFamily="18" charset="0"/>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500" b="1" u="none" strike="noStrike" cap="none">
                          <a:effectLst/>
                          <a:latin typeface="Times New Roman" panose="02020603050405020304" pitchFamily="18" charset="0"/>
                          <a:cs typeface="Times New Roman" panose="02020603050405020304" pitchFamily="18" charset="0"/>
                        </a:rPr>
                        <a:t>Paper Title</a:t>
                      </a:r>
                      <a:endParaRPr sz="1500" b="1" u="none" strike="noStrike" cap="none">
                        <a:effectLst/>
                        <a:latin typeface="Times New Roman" panose="02020603050405020304" pitchFamily="18" charset="0"/>
                        <a:cs typeface="Times New Roman" panose="02020603050405020304" pitchFamily="18" charset="0"/>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400"/>
                        <a:buFont typeface="Arial"/>
                        <a:buNone/>
                      </a:pPr>
                      <a:r>
                        <a:rPr lang="en-US" sz="1500" b="1" u="none" strike="noStrike" cap="none">
                          <a:solidFill>
                            <a:schemeClr val="dk1"/>
                          </a:solidFill>
                          <a:effectLst/>
                          <a:latin typeface="Times New Roman" panose="02020603050405020304" pitchFamily="18" charset="0"/>
                          <a:cs typeface="Times New Roman" panose="02020603050405020304" pitchFamily="18" charset="0"/>
                        </a:rPr>
                        <a:t>Methodology</a:t>
                      </a:r>
                      <a:endParaRPr sz="1500" b="1" u="none" strike="noStrike" cap="none">
                        <a:effectLst/>
                        <a:latin typeface="Times New Roman" panose="02020603050405020304" pitchFamily="18" charset="0"/>
                        <a:cs typeface="Times New Roman" panose="02020603050405020304" pitchFamily="18" charset="0"/>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400"/>
                        <a:buFont typeface="Arial"/>
                        <a:buNone/>
                      </a:pPr>
                      <a:r>
                        <a:rPr lang="en-US" sz="1500" b="1" u="none" strike="noStrike" cap="none">
                          <a:solidFill>
                            <a:schemeClr val="dk1"/>
                          </a:solidFill>
                          <a:effectLst/>
                          <a:latin typeface="Times New Roman" panose="02020603050405020304" pitchFamily="18" charset="0"/>
                          <a:cs typeface="Times New Roman" panose="02020603050405020304" pitchFamily="18" charset="0"/>
                        </a:rPr>
                        <a:t>Drawbacks</a:t>
                      </a:r>
                      <a:endParaRPr sz="1500" b="1" u="none" strike="noStrike" cap="none">
                        <a:effectLst/>
                        <a:latin typeface="Times New Roman" panose="02020603050405020304" pitchFamily="18" charset="0"/>
                        <a:cs typeface="Times New Roman" panose="02020603050405020304" pitchFamily="18" charset="0"/>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500" b="1" u="none" strike="noStrike" cap="none" dirty="0">
                          <a:effectLst/>
                          <a:latin typeface="Times New Roman" panose="02020603050405020304" pitchFamily="18" charset="0"/>
                          <a:cs typeface="Times New Roman" panose="02020603050405020304" pitchFamily="18" charset="0"/>
                        </a:rPr>
                        <a:t>Proposed Methodology to overcome those drawbacks</a:t>
                      </a:r>
                      <a:endParaRPr sz="1500" b="1" u="none" strike="noStrike" cap="none" dirty="0">
                        <a:effectLst/>
                        <a:latin typeface="Times New Roman" panose="02020603050405020304" pitchFamily="18" charset="0"/>
                        <a:cs typeface="Times New Roman" panose="02020603050405020304" pitchFamily="18" charset="0"/>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698075">
                <a:tc>
                  <a:txBody>
                    <a:bodyPr/>
                    <a:lstStyle/>
                    <a:p>
                      <a:pPr marL="0" marR="704128" lvl="0" indent="0" algn="just" rtl="0">
                        <a:lnSpc>
                          <a:spcPct val="100000"/>
                        </a:lnSpc>
                        <a:spcBef>
                          <a:spcPts val="0"/>
                        </a:spcBef>
                        <a:spcAft>
                          <a:spcPts val="0"/>
                        </a:spcAft>
                        <a:buClr>
                          <a:srgbClr val="000000"/>
                        </a:buClr>
                        <a:buSzPts val="1400"/>
                        <a:buFont typeface="Arial"/>
                        <a:buNone/>
                      </a:pPr>
                      <a:r>
                        <a:rPr lang="en-US" sz="2000" u="none" strike="noStrike" cap="none" dirty="0">
                          <a:effectLst/>
                          <a:latin typeface="Times New Roman" panose="02020603050405020304" pitchFamily="18" charset="0"/>
                          <a:cs typeface="Times New Roman" panose="02020603050405020304" pitchFamily="18" charset="0"/>
                        </a:rPr>
                        <a:t>2.</a:t>
                      </a:r>
                      <a:endParaRPr sz="2000" u="none" strike="noStrike" cap="none" dirty="0">
                        <a:effectLst/>
                        <a:latin typeface="Times New Roman" panose="02020603050405020304" pitchFamily="18" charset="0"/>
                        <a:cs typeface="Times New Roman" panose="02020603050405020304" pitchFamily="18" charset="0"/>
                      </a:endParaRPr>
                    </a:p>
                  </a:txBody>
                  <a:tcPr marL="91425" marR="91425" marT="91425" marB="91425">
                    <a:lnT w="9525" cap="flat" cmpd="sng">
                      <a:solidFill>
                        <a:srgbClr val="9E9E9E"/>
                      </a:solidFill>
                      <a:prstDash val="solid"/>
                      <a:round/>
                      <a:headEnd type="none" w="sm" len="sm"/>
                      <a:tailEnd type="none" w="sm" len="sm"/>
                    </a:lnT>
                  </a:tcPr>
                </a:tc>
                <a:tc>
                  <a:txBody>
                    <a:bodyPr/>
                    <a:lstStyle/>
                    <a:p>
                      <a:pPr marL="0" marR="0" lvl="0" indent="0" algn="just" rtl="0">
                        <a:lnSpc>
                          <a:spcPct val="150000"/>
                        </a:lnSpc>
                        <a:spcBef>
                          <a:spcPts val="0"/>
                        </a:spcBef>
                        <a:spcAft>
                          <a:spcPts val="0"/>
                        </a:spcAft>
                        <a:buClr>
                          <a:schemeClr val="dk1"/>
                        </a:buClr>
                        <a:buSzPts val="1100"/>
                        <a:buFont typeface="Arial"/>
                        <a:buNone/>
                      </a:pPr>
                      <a:r>
                        <a:rPr lang="en-IN" sz="2000" dirty="0">
                          <a:effectLst/>
                          <a:latin typeface="Times New Roman" panose="02020603050405020304" pitchFamily="18" charset="0"/>
                          <a:cs typeface="Times New Roman" panose="02020603050405020304" pitchFamily="18" charset="0"/>
                        </a:rPr>
                        <a:t>Chatbot Applications in Tourism</a:t>
                      </a:r>
                      <a:endParaRPr sz="2000" u="none" strike="noStrike" cap="none" dirty="0">
                        <a:effectLst/>
                        <a:latin typeface="Times New Roman" panose="02020603050405020304" pitchFamily="18" charset="0"/>
                        <a:cs typeface="Times New Roman" panose="02020603050405020304" pitchFamily="18" charset="0"/>
                      </a:endParaRPr>
                    </a:p>
                  </a:txBody>
                  <a:tcPr marL="91425" marR="91425" marT="91425" marB="91425">
                    <a:lnT w="9525" cap="flat" cmpd="sng">
                      <a:solidFill>
                        <a:srgbClr val="9E9E9E"/>
                      </a:solidFill>
                      <a:prstDash val="solid"/>
                      <a:round/>
                      <a:headEnd type="none" w="sm" len="sm"/>
                      <a:tailEnd type="none" w="sm" len="sm"/>
                    </a:lnT>
                  </a:tcPr>
                </a:tc>
                <a:tc>
                  <a:txBody>
                    <a:bodyPr/>
                    <a:lstStyle/>
                    <a:p>
                      <a:pPr marL="0" marR="0" lvl="0" indent="0" algn="just" rtl="0">
                        <a:lnSpc>
                          <a:spcPct val="150000"/>
                        </a:lnSpc>
                        <a:spcBef>
                          <a:spcPts val="0"/>
                        </a:spcBef>
                        <a:spcAft>
                          <a:spcPts val="0"/>
                        </a:spcAft>
                        <a:buClr>
                          <a:srgbClr val="000000"/>
                        </a:buClr>
                        <a:buSzPts val="2000"/>
                        <a:buFont typeface="Arial"/>
                        <a:buNone/>
                      </a:pPr>
                      <a:r>
                        <a:rPr lang="en-US" sz="2000" dirty="0">
                          <a:effectLst/>
                          <a:latin typeface="Times New Roman" panose="02020603050405020304" pitchFamily="18" charset="0"/>
                          <a:cs typeface="Times New Roman" panose="02020603050405020304" pitchFamily="18" charset="0"/>
                        </a:rPr>
                        <a:t>Rule-based and retrieval-based chatbot systems</a:t>
                      </a:r>
                      <a:br>
                        <a:rPr lang="en-US" sz="2000" u="none" strike="noStrike" cap="none" dirty="0">
                          <a:solidFill>
                            <a:schemeClr val="dk1"/>
                          </a:solidFill>
                          <a:effectLst/>
                          <a:latin typeface="Times New Roman" panose="02020603050405020304" pitchFamily="18" charset="0"/>
                          <a:ea typeface="Times New Roman"/>
                          <a:cs typeface="Times New Roman" panose="02020603050405020304" pitchFamily="18" charset="0"/>
                          <a:sym typeface="Times New Roman"/>
                        </a:rPr>
                      </a:br>
                      <a:r>
                        <a:rPr lang="en-US" sz="2000" u="none" strike="noStrike" cap="none" dirty="0">
                          <a:solidFill>
                            <a:schemeClr val="dk1"/>
                          </a:solidFill>
                          <a:effectLst/>
                          <a:latin typeface="Times New Roman" panose="02020603050405020304" pitchFamily="18" charset="0"/>
                          <a:ea typeface="Times New Roman"/>
                          <a:cs typeface="Times New Roman" panose="02020603050405020304" pitchFamily="18" charset="0"/>
                          <a:sym typeface="Times New Roman"/>
                        </a:rPr>
                        <a:t>	   </a:t>
                      </a:r>
                      <a:endParaRPr sz="2000" u="none" strike="noStrike" cap="none" dirty="0">
                        <a:solidFill>
                          <a:schemeClr val="dk1"/>
                        </a:solidFill>
                        <a:effectLst/>
                        <a:latin typeface="Times New Roman" panose="02020603050405020304" pitchFamily="18" charset="0"/>
                        <a:ea typeface="Times New Roman"/>
                        <a:cs typeface="Times New Roman" panose="02020603050405020304" pitchFamily="18" charset="0"/>
                        <a:sym typeface="Times New Roman"/>
                      </a:endParaRPr>
                    </a:p>
                  </a:txBody>
                  <a:tcPr marL="57150" marR="91425" marT="91425" marB="91425">
                    <a:lnT w="9525" cap="flat" cmpd="sng">
                      <a:solidFill>
                        <a:srgbClr val="9E9E9E"/>
                      </a:solidFill>
                      <a:prstDash val="solid"/>
                      <a:round/>
                      <a:headEnd type="none" w="sm" len="sm"/>
                      <a:tailEnd type="none" w="sm" len="sm"/>
                    </a:lnT>
                  </a:tcPr>
                </a:tc>
                <a:tc>
                  <a:txBody>
                    <a:bodyPr/>
                    <a:lstStyle/>
                    <a:p>
                      <a:pPr marL="0" marR="0" lvl="0" indent="0" algn="just" rtl="0">
                        <a:lnSpc>
                          <a:spcPct val="140000"/>
                        </a:lnSpc>
                        <a:spcBef>
                          <a:spcPts val="0"/>
                        </a:spcBef>
                        <a:spcAft>
                          <a:spcPts val="0"/>
                        </a:spcAft>
                        <a:buClr>
                          <a:schemeClr val="dk1"/>
                        </a:buClr>
                        <a:buSzPts val="2000"/>
                        <a:buFont typeface="Arial"/>
                        <a:buNone/>
                      </a:pPr>
                      <a:r>
                        <a:rPr lang="en-US" sz="2000" dirty="0">
                          <a:effectLst/>
                          <a:latin typeface="Times New Roman" panose="02020603050405020304" pitchFamily="18" charset="0"/>
                          <a:cs typeface="Times New Roman" panose="02020603050405020304" pitchFamily="18" charset="0"/>
                        </a:rPr>
                        <a:t>Struggle to handle complex queries, lack adaptability</a:t>
                      </a:r>
                      <a:endParaRPr sz="2000" u="none" strike="noStrike" cap="none" dirty="0">
                        <a:effectLst/>
                        <a:latin typeface="Times New Roman" panose="02020603050405020304" pitchFamily="18" charset="0"/>
                        <a:cs typeface="Times New Roman" panose="02020603050405020304" pitchFamily="18" charset="0"/>
                      </a:endParaRPr>
                    </a:p>
                  </a:txBody>
                  <a:tcPr marL="91425" marR="91425" marT="91425" marB="91425">
                    <a:lnT w="9525" cap="flat" cmpd="sng">
                      <a:solidFill>
                        <a:srgbClr val="9E9E9E"/>
                      </a:solidFill>
                      <a:prstDash val="solid"/>
                      <a:round/>
                      <a:headEnd type="none" w="sm" len="sm"/>
                      <a:tailEnd type="none" w="sm" len="sm"/>
                    </a:lnT>
                  </a:tcPr>
                </a:tc>
                <a:tc>
                  <a:txBody>
                    <a:bodyPr/>
                    <a:lstStyle/>
                    <a:p>
                      <a:pPr marL="0" marR="0" lvl="0" indent="0" algn="just" rtl="0">
                        <a:lnSpc>
                          <a:spcPct val="140000"/>
                        </a:lnSpc>
                        <a:spcBef>
                          <a:spcPts val="0"/>
                        </a:spcBef>
                        <a:spcAft>
                          <a:spcPts val="0"/>
                        </a:spcAft>
                        <a:buClr>
                          <a:srgbClr val="000000"/>
                        </a:buClr>
                        <a:buSzPts val="2000"/>
                        <a:buFont typeface="Arial"/>
                        <a:buNone/>
                      </a:pPr>
                      <a:r>
                        <a:rPr lang="en-US" sz="2000" dirty="0">
                          <a:effectLst/>
                          <a:latin typeface="Times New Roman" panose="02020603050405020304" pitchFamily="18" charset="0"/>
                          <a:cs typeface="Times New Roman" panose="02020603050405020304" pitchFamily="18" charset="0"/>
                        </a:rPr>
                        <a:t>Use AI-driven conversational chatbot capable of natural language processing</a:t>
                      </a:r>
                      <a:endParaRPr sz="2000" u="none" strike="noStrike" cap="none" dirty="0">
                        <a:effectLst/>
                        <a:latin typeface="Times New Roman" panose="02020603050405020304" pitchFamily="18" charset="0"/>
                        <a:cs typeface="Times New Roman" panose="02020603050405020304" pitchFamily="18" charset="0"/>
                      </a:endParaRPr>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g1c568adccc6_0_21"/>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a:buNone/>
            </a:pPr>
            <a:r>
              <a:rPr lang="en-US" sz="36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LITERATURE SURVEY</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83" name="Google Shape;183;g1c568adccc6_0_21"/>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84" name="Google Shape;184;g1c568adccc6_0_21"/>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185" name="Google Shape;185;g1c568adccc6_0_21"/>
          <p:cNvSpPr txBox="1"/>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1" dirty="0">
                <a:solidFill>
                  <a:schemeClr val="lt1"/>
                </a:solidFill>
                <a:latin typeface="Calibri"/>
                <a:ea typeface="Calibri"/>
                <a:cs typeface="Calibri"/>
                <a:sym typeface="Calibri"/>
              </a:rPr>
              <a:t>06</a:t>
            </a:r>
            <a:r>
              <a:rPr lang="en-US" sz="1800" b="1" i="0" u="none" strike="noStrike" cap="none" dirty="0">
                <a:solidFill>
                  <a:schemeClr val="lt1"/>
                </a:solidFill>
                <a:latin typeface="Calibri"/>
                <a:ea typeface="Calibri"/>
                <a:cs typeface="Calibri"/>
                <a:sym typeface="Calibri"/>
              </a:rPr>
              <a:t>/04/2026</a:t>
            </a:r>
            <a:endParaRPr sz="1400" b="0" i="0" u="none" strike="noStrike" cap="none" dirty="0">
              <a:solidFill>
                <a:srgbClr val="000000"/>
              </a:solidFill>
              <a:latin typeface="Arial"/>
              <a:ea typeface="Arial"/>
              <a:cs typeface="Arial"/>
              <a:sym typeface="Arial"/>
            </a:endParaRPr>
          </a:p>
        </p:txBody>
      </p:sp>
      <p:sp>
        <p:nvSpPr>
          <p:cNvPr id="186" name="Google Shape;186;g1c568adccc6_0_21"/>
          <p:cNvSpPr txBox="1"/>
          <p:nvPr/>
        </p:nvSpPr>
        <p:spPr>
          <a:xfrm>
            <a:off x="6724680" y="6500834"/>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1" i="0" u="none" strike="noStrike" cap="none">
                <a:solidFill>
                  <a:schemeClr val="lt1"/>
                </a:solidFill>
                <a:latin typeface="Calibri"/>
                <a:ea typeface="Calibri"/>
                <a:cs typeface="Calibri"/>
                <a:sym typeface="Calibri"/>
              </a:rPr>
              <a:t>9</a:t>
            </a:fld>
            <a:endParaRPr sz="1800" b="1" i="0" u="none" strike="noStrike" cap="none">
              <a:solidFill>
                <a:schemeClr val="lt1"/>
              </a:solidFill>
              <a:latin typeface="Calibri"/>
              <a:ea typeface="Calibri"/>
              <a:cs typeface="Calibri"/>
              <a:sym typeface="Calibri"/>
            </a:endParaRPr>
          </a:p>
        </p:txBody>
      </p:sp>
      <p:sp>
        <p:nvSpPr>
          <p:cNvPr id="187" name="Google Shape;187;g1c568adccc6_0_21"/>
          <p:cNvSpPr txBox="1"/>
          <p:nvPr/>
        </p:nvSpPr>
        <p:spPr>
          <a:xfrm>
            <a:off x="1928793" y="6500834"/>
            <a:ext cx="5673009"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lt1"/>
                </a:solidFill>
                <a:latin typeface="Calibri"/>
                <a:ea typeface="Calibri"/>
                <a:cs typeface="Calibri"/>
                <a:sym typeface="Calibri"/>
              </a:rPr>
              <a:t>Department of Allied Computer Science &amp; Engineering</a:t>
            </a:r>
            <a:endParaRPr sz="1800" b="1" i="0" u="none" strike="noStrike" cap="none" dirty="0">
              <a:solidFill>
                <a:schemeClr val="lt1"/>
              </a:solidFill>
              <a:latin typeface="Calibri"/>
              <a:ea typeface="Calibri"/>
              <a:cs typeface="Calibri"/>
              <a:sym typeface="Calibri"/>
            </a:endParaRPr>
          </a:p>
        </p:txBody>
      </p:sp>
      <p:graphicFrame>
        <p:nvGraphicFramePr>
          <p:cNvPr id="188" name="Google Shape;188;g1c568adccc6_0_21"/>
          <p:cNvGraphicFramePr/>
          <p:nvPr>
            <p:extLst>
              <p:ext uri="{D42A27DB-BD31-4B8C-83A1-F6EECF244321}">
                <p14:modId xmlns:p14="http://schemas.microsoft.com/office/powerpoint/2010/main" val="4269511272"/>
              </p:ext>
            </p:extLst>
          </p:nvPr>
        </p:nvGraphicFramePr>
        <p:xfrm>
          <a:off x="288650" y="997160"/>
          <a:ext cx="8728925" cy="4701950"/>
        </p:xfrm>
        <a:graphic>
          <a:graphicData uri="http://schemas.openxmlformats.org/drawingml/2006/table">
            <a:tbl>
              <a:tblPr>
                <a:noFill/>
                <a:tableStyleId>{C84FF9F9-83FF-4686-BF48-736AEC0F4FCA}</a:tableStyleId>
              </a:tblPr>
              <a:tblGrid>
                <a:gridCol w="617600">
                  <a:extLst>
                    <a:ext uri="{9D8B030D-6E8A-4147-A177-3AD203B41FA5}">
                      <a16:colId xmlns:a16="http://schemas.microsoft.com/office/drawing/2014/main" val="20000"/>
                    </a:ext>
                  </a:extLst>
                </a:gridCol>
                <a:gridCol w="1689700">
                  <a:extLst>
                    <a:ext uri="{9D8B030D-6E8A-4147-A177-3AD203B41FA5}">
                      <a16:colId xmlns:a16="http://schemas.microsoft.com/office/drawing/2014/main" val="20001"/>
                    </a:ext>
                  </a:extLst>
                </a:gridCol>
                <a:gridCol w="2952125">
                  <a:extLst>
                    <a:ext uri="{9D8B030D-6E8A-4147-A177-3AD203B41FA5}">
                      <a16:colId xmlns:a16="http://schemas.microsoft.com/office/drawing/2014/main" val="20002"/>
                    </a:ext>
                  </a:extLst>
                </a:gridCol>
                <a:gridCol w="1755425">
                  <a:extLst>
                    <a:ext uri="{9D8B030D-6E8A-4147-A177-3AD203B41FA5}">
                      <a16:colId xmlns:a16="http://schemas.microsoft.com/office/drawing/2014/main" val="20003"/>
                    </a:ext>
                  </a:extLst>
                </a:gridCol>
                <a:gridCol w="1714075">
                  <a:extLst>
                    <a:ext uri="{9D8B030D-6E8A-4147-A177-3AD203B41FA5}">
                      <a16:colId xmlns:a16="http://schemas.microsoft.com/office/drawing/2014/main" val="20004"/>
                    </a:ext>
                  </a:extLst>
                </a:gridCol>
              </a:tblGrid>
              <a:tr h="1058975">
                <a:tc>
                  <a:txBody>
                    <a:bodyPr/>
                    <a:lstStyle/>
                    <a:p>
                      <a:pPr marL="0" marR="0" lvl="0" indent="0" algn="ctr" rtl="0">
                        <a:lnSpc>
                          <a:spcPct val="100000"/>
                        </a:lnSpc>
                        <a:spcBef>
                          <a:spcPts val="0"/>
                        </a:spcBef>
                        <a:spcAft>
                          <a:spcPts val="0"/>
                        </a:spcAft>
                        <a:buClr>
                          <a:srgbClr val="000000"/>
                        </a:buClr>
                        <a:buSzPts val="1400"/>
                        <a:buFont typeface="Arial"/>
                        <a:buNone/>
                      </a:pPr>
                      <a:r>
                        <a:rPr lang="en-US" sz="1500" b="1" u="none" strike="noStrike" cap="none">
                          <a:latin typeface="Times New Roman" panose="02020603050405020304" pitchFamily="18" charset="0"/>
                          <a:cs typeface="Times New Roman" panose="02020603050405020304" pitchFamily="18" charset="0"/>
                        </a:rPr>
                        <a:t>S.No</a:t>
                      </a:r>
                      <a:endParaRPr sz="1500" b="1" u="none" strike="noStrike" cap="none">
                        <a:latin typeface="Times New Roman" panose="02020603050405020304" pitchFamily="18" charset="0"/>
                        <a:cs typeface="Times New Roman" panose="02020603050405020304" pitchFamily="18" charset="0"/>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500" b="1" u="none" strike="noStrike" cap="none">
                          <a:latin typeface="Times New Roman" panose="02020603050405020304" pitchFamily="18" charset="0"/>
                          <a:cs typeface="Times New Roman" panose="02020603050405020304" pitchFamily="18" charset="0"/>
                        </a:rPr>
                        <a:t>Paper Title</a:t>
                      </a:r>
                      <a:endParaRPr sz="1500" b="1" u="none" strike="noStrike" cap="none">
                        <a:latin typeface="Times New Roman" panose="02020603050405020304" pitchFamily="18" charset="0"/>
                        <a:cs typeface="Times New Roman" panose="02020603050405020304" pitchFamily="18" charset="0"/>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400"/>
                        <a:buFont typeface="Arial"/>
                        <a:buNone/>
                      </a:pPr>
                      <a:r>
                        <a:rPr lang="en-US" sz="1500" b="1" u="none" strike="noStrike" cap="none">
                          <a:solidFill>
                            <a:schemeClr val="dk1"/>
                          </a:solidFill>
                          <a:latin typeface="Times New Roman" panose="02020603050405020304" pitchFamily="18" charset="0"/>
                          <a:cs typeface="Times New Roman" panose="02020603050405020304" pitchFamily="18" charset="0"/>
                        </a:rPr>
                        <a:t>Methodology</a:t>
                      </a:r>
                      <a:endParaRPr sz="1500" b="1" u="none" strike="noStrike" cap="none">
                        <a:latin typeface="Times New Roman" panose="02020603050405020304" pitchFamily="18" charset="0"/>
                        <a:cs typeface="Times New Roman" panose="02020603050405020304" pitchFamily="18" charset="0"/>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400"/>
                        <a:buFont typeface="Arial"/>
                        <a:buNone/>
                      </a:pPr>
                      <a:r>
                        <a:rPr lang="en-US" sz="1500" b="1" u="none" strike="noStrike" cap="none">
                          <a:solidFill>
                            <a:schemeClr val="dk1"/>
                          </a:solidFill>
                          <a:latin typeface="Times New Roman" panose="02020603050405020304" pitchFamily="18" charset="0"/>
                          <a:cs typeface="Times New Roman" panose="02020603050405020304" pitchFamily="18" charset="0"/>
                        </a:rPr>
                        <a:t>Drawbacks</a:t>
                      </a:r>
                      <a:endParaRPr sz="1500" b="1" u="none" strike="noStrike" cap="none">
                        <a:latin typeface="Times New Roman" panose="02020603050405020304" pitchFamily="18" charset="0"/>
                        <a:cs typeface="Times New Roman" panose="02020603050405020304" pitchFamily="18" charset="0"/>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500" b="1" u="none" strike="noStrike" cap="none" dirty="0">
                          <a:latin typeface="Times New Roman" panose="02020603050405020304" pitchFamily="18" charset="0"/>
                          <a:cs typeface="Times New Roman" panose="02020603050405020304" pitchFamily="18" charset="0"/>
                        </a:rPr>
                        <a:t>Proposed Methodology to overcome those drawbacks</a:t>
                      </a:r>
                      <a:endParaRPr sz="1500" b="1" u="none" strike="noStrike" cap="none" dirty="0">
                        <a:latin typeface="Times New Roman" panose="02020603050405020304" pitchFamily="18" charset="0"/>
                        <a:cs typeface="Times New Roman" panose="02020603050405020304" pitchFamily="18" charset="0"/>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604700">
                <a:tc>
                  <a:txBody>
                    <a:bodyPr/>
                    <a:lstStyle/>
                    <a:p>
                      <a:pPr marL="0" marR="704128" lvl="0" indent="0" algn="just" rtl="0">
                        <a:lnSpc>
                          <a:spcPct val="100000"/>
                        </a:lnSpc>
                        <a:spcBef>
                          <a:spcPts val="0"/>
                        </a:spcBef>
                        <a:spcAft>
                          <a:spcPts val="0"/>
                        </a:spcAft>
                        <a:buClr>
                          <a:srgbClr val="000000"/>
                        </a:buClr>
                        <a:buSzPts val="1400"/>
                        <a:buFont typeface="Arial"/>
                        <a:buNone/>
                      </a:pPr>
                      <a:r>
                        <a:rPr lang="en-US" sz="1900" u="none" strike="noStrike" cap="none"/>
                        <a:t>3.</a:t>
                      </a:r>
                      <a:endParaRPr sz="1900" u="none" strike="noStrike" cap="none"/>
                    </a:p>
                  </a:txBody>
                  <a:tcPr marL="91425" marR="91425" marT="91425" marB="91425">
                    <a:lnT w="9525" cap="flat" cmpd="sng">
                      <a:solidFill>
                        <a:srgbClr val="9E9E9E"/>
                      </a:solidFill>
                      <a:prstDash val="solid"/>
                      <a:round/>
                      <a:headEnd type="none" w="sm" len="sm"/>
                      <a:tailEnd type="none" w="sm" len="sm"/>
                    </a:lnT>
                  </a:tcPr>
                </a:tc>
                <a:tc>
                  <a:txBody>
                    <a:bodyPr/>
                    <a:lstStyle/>
                    <a:p>
                      <a:pPr marL="0" marR="0" lvl="0" indent="0" algn="just" rtl="0">
                        <a:lnSpc>
                          <a:spcPct val="150000"/>
                        </a:lnSpc>
                        <a:spcBef>
                          <a:spcPts val="0"/>
                        </a:spcBef>
                        <a:spcAft>
                          <a:spcPts val="0"/>
                        </a:spcAft>
                        <a:buClr>
                          <a:srgbClr val="000000"/>
                        </a:buClr>
                        <a:buSzPts val="2000"/>
                        <a:buFont typeface="Arial"/>
                        <a:buNone/>
                      </a:pPr>
                      <a:r>
                        <a:rPr lang="en-US" sz="20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Web-Based Tourism Platforms (e .g. Make My Trip)</a:t>
                      </a:r>
                      <a:endParaRPr lang="en-US" sz="2000" u="none" strike="noStrike" cap="none" dirty="0">
                        <a:latin typeface="Times New Roman" panose="02020603050405020304" pitchFamily="18" charset="0"/>
                        <a:cs typeface="Times New Roman" panose="02020603050405020304" pitchFamily="18" charset="0"/>
                      </a:endParaRPr>
                    </a:p>
                  </a:txBody>
                  <a:tcPr marL="91425" marR="91425" marT="91425" marB="91425">
                    <a:lnT w="9525" cap="flat" cmpd="sng">
                      <a:solidFill>
                        <a:srgbClr val="9E9E9E"/>
                      </a:solidFill>
                      <a:prstDash val="solid"/>
                      <a:round/>
                      <a:headEnd type="none" w="sm" len="sm"/>
                      <a:tailEnd type="none" w="sm" len="sm"/>
                    </a:lnT>
                  </a:tcPr>
                </a:tc>
                <a:tc>
                  <a:txBody>
                    <a:bodyPr/>
                    <a:lstStyle/>
                    <a:p>
                      <a:pPr marL="0" marR="0" lvl="0" indent="0" algn="just" rtl="0">
                        <a:lnSpc>
                          <a:spcPct val="150000"/>
                        </a:lnSpc>
                        <a:spcBef>
                          <a:spcPts val="0"/>
                        </a:spcBef>
                        <a:spcAft>
                          <a:spcPts val="0"/>
                        </a:spcAft>
                        <a:buClr>
                          <a:srgbClr val="000000"/>
                        </a:buClr>
                        <a:buSzPts val="2000"/>
                        <a:buFont typeface="Arial"/>
                        <a:buNone/>
                      </a:pPr>
                      <a:r>
                        <a:rPr lang="en-US" sz="2000" dirty="0">
                          <a:latin typeface="Times New Roman" panose="02020603050405020304" pitchFamily="18" charset="0"/>
                          <a:cs typeface="Times New Roman" panose="02020603050405020304" pitchFamily="18" charset="0"/>
                        </a:rPr>
                        <a:t>Centralized portals offering lists of destinations, reviews, and ratings</a:t>
                      </a:r>
                      <a:endParaRPr sz="2000" u="none" strike="noStrike" cap="none" dirty="0">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marR="0" lvl="0" indent="0" algn="just" rtl="0">
                        <a:lnSpc>
                          <a:spcPct val="150000"/>
                        </a:lnSpc>
                        <a:spcBef>
                          <a:spcPts val="0"/>
                        </a:spcBef>
                        <a:spcAft>
                          <a:spcPts val="0"/>
                        </a:spcAft>
                        <a:buClr>
                          <a:schemeClr val="dk1"/>
                        </a:buClr>
                        <a:buSzPts val="2000"/>
                        <a:buFont typeface="Arial"/>
                        <a:buNone/>
                      </a:pPr>
                      <a:r>
                        <a:rPr lang="en-US" sz="2000" dirty="0">
                          <a:latin typeface="Times New Roman" panose="02020603050405020304" pitchFamily="18" charset="0"/>
                          <a:cs typeface="Times New Roman" panose="02020603050405020304" pitchFamily="18" charset="0"/>
                        </a:rPr>
                        <a:t>Static content, overwhelming information, lack of dynamic personalization</a:t>
                      </a:r>
                      <a:endParaRPr sz="2000" u="none" strike="noStrike" cap="none" dirty="0">
                        <a:latin typeface="Times New Roman" panose="02020603050405020304" pitchFamily="18" charset="0"/>
                        <a:cs typeface="Times New Roman" panose="02020603050405020304" pitchFamily="18" charset="0"/>
                      </a:endParaRPr>
                    </a:p>
                  </a:txBody>
                  <a:tcPr marL="91425" marR="91425" marT="91425" marB="91425">
                    <a:lnT w="9525" cap="flat" cmpd="sng">
                      <a:solidFill>
                        <a:srgbClr val="9E9E9E"/>
                      </a:solidFill>
                      <a:prstDash val="solid"/>
                      <a:round/>
                      <a:headEnd type="none" w="sm" len="sm"/>
                      <a:tailEnd type="none" w="sm" len="sm"/>
                    </a:lnT>
                  </a:tcPr>
                </a:tc>
                <a:tc>
                  <a:txBody>
                    <a:bodyPr/>
                    <a:lstStyle/>
                    <a:p>
                      <a:pPr marL="0" marR="0" lvl="0" indent="0" algn="just" rtl="0">
                        <a:lnSpc>
                          <a:spcPct val="150000"/>
                        </a:lnSpc>
                        <a:spcBef>
                          <a:spcPts val="0"/>
                        </a:spcBef>
                        <a:spcAft>
                          <a:spcPts val="0"/>
                        </a:spcAft>
                        <a:buClr>
                          <a:srgbClr val="000000"/>
                        </a:buClr>
                        <a:buSzPts val="2000"/>
                        <a:buFont typeface="Arial"/>
                        <a:buNone/>
                      </a:pPr>
                      <a:r>
                        <a:rPr lang="en-US" sz="2000" dirty="0">
                          <a:latin typeface="Times New Roman" panose="02020603050405020304" pitchFamily="18" charset="0"/>
                          <a:cs typeface="Times New Roman" panose="02020603050405020304" pitchFamily="18" charset="0"/>
                        </a:rPr>
                        <a:t>Develop a user-friendly interface with interactive category cards and tailored suggestions</a:t>
                      </a:r>
                      <a:endParaRPr sz="20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g1c568adccc6_0_11"/>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a:buNone/>
            </a:pPr>
            <a:r>
              <a:rPr lang="en-US" sz="36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LITERATURE SURVEY</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94" name="Google Shape;194;g1c568adccc6_0_11"/>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95" name="Google Shape;195;g1c568adccc6_0_11"/>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196" name="Google Shape;196;g1c568adccc6_0_11"/>
          <p:cNvSpPr txBox="1"/>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1" dirty="0">
                <a:solidFill>
                  <a:schemeClr val="lt1"/>
                </a:solidFill>
                <a:latin typeface="Calibri"/>
                <a:ea typeface="Calibri"/>
                <a:cs typeface="Calibri"/>
                <a:sym typeface="Calibri"/>
              </a:rPr>
              <a:t>06</a:t>
            </a:r>
            <a:r>
              <a:rPr lang="en-US" sz="1800" b="1" i="0" u="none" strike="noStrike" cap="none" dirty="0">
                <a:solidFill>
                  <a:schemeClr val="lt1"/>
                </a:solidFill>
                <a:latin typeface="Calibri"/>
                <a:ea typeface="Calibri"/>
                <a:cs typeface="Calibri"/>
                <a:sym typeface="Calibri"/>
              </a:rPr>
              <a:t>/04/2026</a:t>
            </a:r>
            <a:endParaRPr sz="1400" b="0" i="0" u="none" strike="noStrike" cap="none" dirty="0">
              <a:solidFill>
                <a:srgbClr val="000000"/>
              </a:solidFill>
              <a:latin typeface="Arial"/>
              <a:ea typeface="Arial"/>
              <a:cs typeface="Arial"/>
              <a:sym typeface="Arial"/>
            </a:endParaRPr>
          </a:p>
        </p:txBody>
      </p:sp>
      <p:sp>
        <p:nvSpPr>
          <p:cNvPr id="197" name="Google Shape;197;g1c568adccc6_0_11"/>
          <p:cNvSpPr txBox="1"/>
          <p:nvPr/>
        </p:nvSpPr>
        <p:spPr>
          <a:xfrm>
            <a:off x="6724680" y="6500834"/>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1" i="0" u="none" strike="noStrike" cap="none">
                <a:solidFill>
                  <a:schemeClr val="lt1"/>
                </a:solidFill>
                <a:latin typeface="Calibri"/>
                <a:ea typeface="Calibri"/>
                <a:cs typeface="Calibri"/>
                <a:sym typeface="Calibri"/>
              </a:rPr>
              <a:t>10</a:t>
            </a:fld>
            <a:endParaRPr sz="1800" b="1" i="0" u="none" strike="noStrike" cap="none">
              <a:solidFill>
                <a:schemeClr val="lt1"/>
              </a:solidFill>
              <a:latin typeface="Calibri"/>
              <a:ea typeface="Calibri"/>
              <a:cs typeface="Calibri"/>
              <a:sym typeface="Calibri"/>
            </a:endParaRPr>
          </a:p>
        </p:txBody>
      </p:sp>
      <p:sp>
        <p:nvSpPr>
          <p:cNvPr id="198" name="Google Shape;198;g1c568adccc6_0_11"/>
          <p:cNvSpPr txBox="1"/>
          <p:nvPr/>
        </p:nvSpPr>
        <p:spPr>
          <a:xfrm>
            <a:off x="1928794" y="6500834"/>
            <a:ext cx="5591122"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lt1"/>
                </a:solidFill>
                <a:latin typeface="Calibri"/>
                <a:ea typeface="Calibri"/>
                <a:cs typeface="Calibri"/>
                <a:sym typeface="Calibri"/>
              </a:rPr>
              <a:t>Department of Allied Computer Science &amp; Engineering</a:t>
            </a:r>
            <a:endParaRPr sz="1800" b="1" i="0" u="none" strike="noStrike" cap="none" dirty="0">
              <a:solidFill>
                <a:schemeClr val="lt1"/>
              </a:solidFill>
              <a:latin typeface="Calibri"/>
              <a:ea typeface="Calibri"/>
              <a:cs typeface="Calibri"/>
              <a:sym typeface="Calibri"/>
            </a:endParaRPr>
          </a:p>
        </p:txBody>
      </p:sp>
      <p:graphicFrame>
        <p:nvGraphicFramePr>
          <p:cNvPr id="199" name="Google Shape;199;g1c568adccc6_0_11"/>
          <p:cNvGraphicFramePr/>
          <p:nvPr>
            <p:extLst>
              <p:ext uri="{D42A27DB-BD31-4B8C-83A1-F6EECF244321}">
                <p14:modId xmlns:p14="http://schemas.microsoft.com/office/powerpoint/2010/main" val="1480886345"/>
              </p:ext>
            </p:extLst>
          </p:nvPr>
        </p:nvGraphicFramePr>
        <p:xfrm>
          <a:off x="326275" y="997160"/>
          <a:ext cx="8705825" cy="4882900"/>
        </p:xfrm>
        <a:graphic>
          <a:graphicData uri="http://schemas.openxmlformats.org/drawingml/2006/table">
            <a:tbl>
              <a:tblPr>
                <a:noFill/>
                <a:tableStyleId>{C84FF9F9-83FF-4686-BF48-736AEC0F4FCA}</a:tableStyleId>
              </a:tblPr>
              <a:tblGrid>
                <a:gridCol w="653800">
                  <a:extLst>
                    <a:ext uri="{9D8B030D-6E8A-4147-A177-3AD203B41FA5}">
                      <a16:colId xmlns:a16="http://schemas.microsoft.com/office/drawing/2014/main" val="20000"/>
                    </a:ext>
                  </a:extLst>
                </a:gridCol>
                <a:gridCol w="1535875">
                  <a:extLst>
                    <a:ext uri="{9D8B030D-6E8A-4147-A177-3AD203B41FA5}">
                      <a16:colId xmlns:a16="http://schemas.microsoft.com/office/drawing/2014/main" val="20001"/>
                    </a:ext>
                  </a:extLst>
                </a:gridCol>
                <a:gridCol w="3213375">
                  <a:extLst>
                    <a:ext uri="{9D8B030D-6E8A-4147-A177-3AD203B41FA5}">
                      <a16:colId xmlns:a16="http://schemas.microsoft.com/office/drawing/2014/main" val="20002"/>
                    </a:ext>
                  </a:extLst>
                </a:gridCol>
                <a:gridCol w="1538575">
                  <a:extLst>
                    <a:ext uri="{9D8B030D-6E8A-4147-A177-3AD203B41FA5}">
                      <a16:colId xmlns:a16="http://schemas.microsoft.com/office/drawing/2014/main" val="20003"/>
                    </a:ext>
                  </a:extLst>
                </a:gridCol>
                <a:gridCol w="1764200">
                  <a:extLst>
                    <a:ext uri="{9D8B030D-6E8A-4147-A177-3AD203B41FA5}">
                      <a16:colId xmlns:a16="http://schemas.microsoft.com/office/drawing/2014/main" val="20004"/>
                    </a:ext>
                  </a:extLst>
                </a:gridCol>
              </a:tblGrid>
              <a:tr h="1009750">
                <a:tc>
                  <a:txBody>
                    <a:bodyPr/>
                    <a:lstStyle/>
                    <a:p>
                      <a:pPr marL="0" marR="0" lvl="0" indent="0" algn="ctr" rtl="0">
                        <a:lnSpc>
                          <a:spcPct val="100000"/>
                        </a:lnSpc>
                        <a:spcBef>
                          <a:spcPts val="0"/>
                        </a:spcBef>
                        <a:spcAft>
                          <a:spcPts val="0"/>
                        </a:spcAft>
                        <a:buClr>
                          <a:srgbClr val="000000"/>
                        </a:buClr>
                        <a:buSzPts val="1400"/>
                        <a:buFont typeface="Arial"/>
                        <a:buNone/>
                      </a:pPr>
                      <a:r>
                        <a:rPr lang="en-US" sz="1500" b="1" u="none" strike="noStrike" cap="none">
                          <a:latin typeface="Times New Roman" panose="02020603050405020304" pitchFamily="18" charset="0"/>
                          <a:cs typeface="Times New Roman" panose="02020603050405020304" pitchFamily="18" charset="0"/>
                        </a:rPr>
                        <a:t>S.No</a:t>
                      </a:r>
                      <a:endParaRPr sz="1500" b="1" u="none" strike="noStrike" cap="none">
                        <a:latin typeface="Times New Roman" panose="02020603050405020304" pitchFamily="18" charset="0"/>
                        <a:cs typeface="Times New Roman" panose="02020603050405020304" pitchFamily="18" charset="0"/>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500" b="1" u="none" strike="noStrike" cap="none">
                          <a:latin typeface="Times New Roman" panose="02020603050405020304" pitchFamily="18" charset="0"/>
                          <a:cs typeface="Times New Roman" panose="02020603050405020304" pitchFamily="18" charset="0"/>
                        </a:rPr>
                        <a:t>Paper Title</a:t>
                      </a:r>
                      <a:endParaRPr sz="1500" b="1" u="none" strike="noStrike" cap="none">
                        <a:latin typeface="Times New Roman" panose="02020603050405020304" pitchFamily="18" charset="0"/>
                        <a:cs typeface="Times New Roman" panose="02020603050405020304" pitchFamily="18" charset="0"/>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400"/>
                        <a:buFont typeface="Arial"/>
                        <a:buNone/>
                      </a:pPr>
                      <a:r>
                        <a:rPr lang="en-US" sz="1500" b="1" u="none" strike="noStrike" cap="none">
                          <a:solidFill>
                            <a:schemeClr val="dk1"/>
                          </a:solidFill>
                          <a:latin typeface="Times New Roman" panose="02020603050405020304" pitchFamily="18" charset="0"/>
                          <a:cs typeface="Times New Roman" panose="02020603050405020304" pitchFamily="18" charset="0"/>
                        </a:rPr>
                        <a:t>Methodology</a:t>
                      </a:r>
                      <a:endParaRPr sz="1500" b="1" u="none" strike="noStrike" cap="none">
                        <a:latin typeface="Times New Roman" panose="02020603050405020304" pitchFamily="18" charset="0"/>
                        <a:cs typeface="Times New Roman" panose="02020603050405020304" pitchFamily="18" charset="0"/>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400"/>
                        <a:buFont typeface="Arial"/>
                        <a:buNone/>
                      </a:pPr>
                      <a:r>
                        <a:rPr lang="en-US" sz="1500" b="1" u="none" strike="noStrike" cap="none">
                          <a:solidFill>
                            <a:schemeClr val="dk1"/>
                          </a:solidFill>
                          <a:latin typeface="Times New Roman" panose="02020603050405020304" pitchFamily="18" charset="0"/>
                          <a:cs typeface="Times New Roman" panose="02020603050405020304" pitchFamily="18" charset="0"/>
                        </a:rPr>
                        <a:t>Drawbacks</a:t>
                      </a:r>
                      <a:endParaRPr sz="1500" b="1" u="none" strike="noStrike" cap="none">
                        <a:latin typeface="Times New Roman" panose="02020603050405020304" pitchFamily="18" charset="0"/>
                        <a:cs typeface="Times New Roman" panose="02020603050405020304" pitchFamily="18" charset="0"/>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500" b="1" u="none" strike="noStrike" cap="none" dirty="0">
                          <a:latin typeface="Times New Roman" panose="02020603050405020304" pitchFamily="18" charset="0"/>
                          <a:cs typeface="Times New Roman" panose="02020603050405020304" pitchFamily="18" charset="0"/>
                        </a:rPr>
                        <a:t>Proposed Methodology to overcome those drawbacks</a:t>
                      </a:r>
                      <a:endParaRPr sz="1500" b="1" u="none" strike="noStrike" cap="none" dirty="0">
                        <a:latin typeface="Times New Roman" panose="02020603050405020304" pitchFamily="18" charset="0"/>
                        <a:cs typeface="Times New Roman" panose="02020603050405020304" pitchFamily="18" charset="0"/>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349450">
                <a:tc>
                  <a:txBody>
                    <a:bodyPr/>
                    <a:lstStyle/>
                    <a:p>
                      <a:pPr marL="0" marR="704128" lvl="0" indent="0" algn="just" rtl="0">
                        <a:lnSpc>
                          <a:spcPct val="100000"/>
                        </a:lnSpc>
                        <a:spcBef>
                          <a:spcPts val="0"/>
                        </a:spcBef>
                        <a:spcAft>
                          <a:spcPts val="0"/>
                        </a:spcAft>
                        <a:buClr>
                          <a:srgbClr val="000000"/>
                        </a:buClr>
                        <a:buSzPts val="1400"/>
                        <a:buFont typeface="Arial"/>
                        <a:buNone/>
                      </a:pPr>
                      <a:r>
                        <a:rPr lang="en-US" sz="2000" u="none" strike="noStrike" cap="none" dirty="0">
                          <a:latin typeface="Times New Roman" panose="02020603050405020304" pitchFamily="18" charset="0"/>
                          <a:cs typeface="Times New Roman" panose="02020603050405020304" pitchFamily="18" charset="0"/>
                        </a:rPr>
                        <a:t>4</a:t>
                      </a:r>
                      <a:endParaRPr sz="2000" u="none" strike="noStrike" cap="none" dirty="0">
                        <a:latin typeface="Times New Roman" panose="02020603050405020304" pitchFamily="18" charset="0"/>
                        <a:cs typeface="Times New Roman" panose="02020603050405020304" pitchFamily="18" charset="0"/>
                      </a:endParaRPr>
                    </a:p>
                  </a:txBody>
                  <a:tcPr marL="91425" marR="91425" marT="91425" marB="91425">
                    <a:lnT w="9525" cap="flat" cmpd="sng">
                      <a:solidFill>
                        <a:srgbClr val="9E9E9E"/>
                      </a:solidFill>
                      <a:prstDash val="solid"/>
                      <a:round/>
                      <a:headEnd type="none" w="sm" len="sm"/>
                      <a:tailEnd type="none" w="sm" len="sm"/>
                    </a:lnT>
                  </a:tcPr>
                </a:tc>
                <a:tc>
                  <a:txBody>
                    <a:bodyPr/>
                    <a:lstStyle/>
                    <a:p>
                      <a:pPr marL="0" marR="0" lvl="0" indent="0" algn="just" rtl="0">
                        <a:lnSpc>
                          <a:spcPct val="150000"/>
                        </a:lnSpc>
                        <a:spcBef>
                          <a:spcPts val="0"/>
                        </a:spcBef>
                        <a:spcAft>
                          <a:spcPts val="0"/>
                        </a:spcAft>
                        <a:buClr>
                          <a:srgbClr val="000000"/>
                        </a:buClr>
                        <a:buSzPts val="2000"/>
                        <a:buFont typeface="Arial"/>
                        <a:buNone/>
                      </a:pPr>
                      <a:r>
                        <a:rPr lang="en-US" sz="2000" dirty="0">
                          <a:latin typeface="Times New Roman" panose="02020603050405020304" pitchFamily="18" charset="0"/>
                          <a:cs typeface="Times New Roman" panose="02020603050405020304" pitchFamily="18" charset="0"/>
                        </a:rPr>
                        <a:t>Secure Authentication in Online Travel Systems</a:t>
                      </a:r>
                      <a:endParaRPr sz="20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marR="0" lvl="0" indent="0" algn="just" rtl="0">
                        <a:lnSpc>
                          <a:spcPct val="150000"/>
                        </a:lnSpc>
                        <a:spcBef>
                          <a:spcPts val="0"/>
                        </a:spcBef>
                        <a:spcAft>
                          <a:spcPts val="0"/>
                        </a:spcAft>
                        <a:buClr>
                          <a:srgbClr val="000000"/>
                        </a:buClr>
                        <a:buSzPts val="2000"/>
                        <a:buFont typeface="Arial"/>
                        <a:buNone/>
                      </a:pPr>
                      <a:r>
                        <a:rPr lang="en-US" sz="2000" dirty="0">
                          <a:latin typeface="Times New Roman" panose="02020603050405020304" pitchFamily="18" charset="0"/>
                          <a:cs typeface="Times New Roman" panose="02020603050405020304" pitchFamily="18" charset="0"/>
                        </a:rPr>
                        <a:t>Login systems with encrypted passwords</a:t>
                      </a:r>
                      <a:endParaRPr sz="2000" u="none" strike="noStrike" cap="none" dirty="0">
                        <a:latin typeface="Times New Roman" panose="02020603050405020304" pitchFamily="18" charset="0"/>
                        <a:cs typeface="Times New Roman" panose="02020603050405020304" pitchFamily="18" charset="0"/>
                      </a:endParaRPr>
                    </a:p>
                  </a:txBody>
                  <a:tcPr marL="91425" marR="91425" marT="91425" marB="91425">
                    <a:lnT w="9525" cap="flat" cmpd="sng">
                      <a:solidFill>
                        <a:srgbClr val="9E9E9E"/>
                      </a:solidFill>
                      <a:prstDash val="solid"/>
                      <a:round/>
                      <a:headEnd type="none" w="sm" len="sm"/>
                      <a:tailEnd type="none" w="sm" len="sm"/>
                    </a:lnT>
                  </a:tcPr>
                </a:tc>
                <a:tc>
                  <a:txBody>
                    <a:bodyPr/>
                    <a:lstStyle/>
                    <a:p>
                      <a:pPr marL="0" marR="0" lvl="0" indent="0" algn="just" rtl="0">
                        <a:lnSpc>
                          <a:spcPct val="150000"/>
                        </a:lnSpc>
                        <a:spcBef>
                          <a:spcPts val="0"/>
                        </a:spcBef>
                        <a:spcAft>
                          <a:spcPts val="0"/>
                        </a:spcAft>
                        <a:buClr>
                          <a:schemeClr val="dk1"/>
                        </a:buClr>
                        <a:buSzPts val="1100"/>
                        <a:buFont typeface="Arial"/>
                        <a:buNone/>
                      </a:pPr>
                      <a:r>
                        <a:rPr lang="en-US" sz="2000" dirty="0">
                          <a:latin typeface="Times New Roman" panose="02020603050405020304" pitchFamily="18" charset="0"/>
                          <a:cs typeface="Times New Roman" panose="02020603050405020304" pitchFamily="18" charset="0"/>
                        </a:rPr>
                        <a:t>Vulnerable to phishing, weak passwords, replay attacks</a:t>
                      </a:r>
                      <a:endParaRPr sz="20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marR="0" lvl="0" indent="0" algn="just" rtl="0">
                        <a:lnSpc>
                          <a:spcPct val="150000"/>
                        </a:lnSpc>
                        <a:spcBef>
                          <a:spcPts val="0"/>
                        </a:spcBef>
                        <a:spcAft>
                          <a:spcPts val="0"/>
                        </a:spcAft>
                        <a:buClr>
                          <a:schemeClr val="dk1"/>
                        </a:buClr>
                        <a:buSzPts val="2000"/>
                        <a:buFont typeface="Arial"/>
                        <a:buNone/>
                      </a:pPr>
                      <a:r>
                        <a:rPr lang="en-US" sz="2000" dirty="0">
                          <a:highlight>
                            <a:srgbClr val="FFFFFF"/>
                          </a:highlight>
                          <a:latin typeface="Times New Roman" panose="02020603050405020304" pitchFamily="18" charset="0"/>
                          <a:cs typeface="Times New Roman" panose="02020603050405020304" pitchFamily="18" charset="0"/>
                        </a:rPr>
                        <a:t>Implement secure authentication with Node.js, Express.js, and MongoDB using hashed credentials</a:t>
                      </a:r>
                      <a:endParaRPr sz="20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g1fa719f7513_0_11"/>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a:buNone/>
            </a:pPr>
            <a:r>
              <a:rPr lang="en-US" sz="36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LITERATURE SURVEY</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205" name="Google Shape;205;g1fa719f7513_0_11"/>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06" name="Google Shape;206;g1fa719f7513_0_11"/>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207" name="Google Shape;207;g1fa719f7513_0_11"/>
          <p:cNvSpPr txBox="1"/>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1" dirty="0">
                <a:solidFill>
                  <a:schemeClr val="lt1"/>
                </a:solidFill>
                <a:latin typeface="Calibri"/>
                <a:ea typeface="Calibri"/>
                <a:cs typeface="Calibri"/>
                <a:sym typeface="Calibri"/>
              </a:rPr>
              <a:t>06</a:t>
            </a:r>
            <a:r>
              <a:rPr lang="en-US" sz="1800" b="1" i="0" u="none" strike="noStrike" cap="none" dirty="0">
                <a:solidFill>
                  <a:schemeClr val="lt1"/>
                </a:solidFill>
                <a:latin typeface="Calibri"/>
                <a:ea typeface="Calibri"/>
                <a:cs typeface="Calibri"/>
                <a:sym typeface="Calibri"/>
              </a:rPr>
              <a:t>/04/2026</a:t>
            </a:r>
            <a:endParaRPr sz="1400" b="0" i="0" u="none" strike="noStrike" cap="none" dirty="0">
              <a:solidFill>
                <a:srgbClr val="000000"/>
              </a:solidFill>
              <a:latin typeface="Arial"/>
              <a:ea typeface="Arial"/>
              <a:cs typeface="Arial"/>
              <a:sym typeface="Arial"/>
            </a:endParaRPr>
          </a:p>
        </p:txBody>
      </p:sp>
      <p:sp>
        <p:nvSpPr>
          <p:cNvPr id="208" name="Google Shape;208;g1fa719f7513_0_11"/>
          <p:cNvSpPr txBox="1"/>
          <p:nvPr/>
        </p:nvSpPr>
        <p:spPr>
          <a:xfrm>
            <a:off x="6724680" y="6500834"/>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1" i="0" u="none" strike="noStrike" cap="none">
                <a:solidFill>
                  <a:schemeClr val="lt1"/>
                </a:solidFill>
                <a:latin typeface="Calibri"/>
                <a:ea typeface="Calibri"/>
                <a:cs typeface="Calibri"/>
                <a:sym typeface="Calibri"/>
              </a:rPr>
              <a:t>11</a:t>
            </a:fld>
            <a:endParaRPr sz="1800" b="1" i="0" u="none" strike="noStrike" cap="none">
              <a:solidFill>
                <a:schemeClr val="lt1"/>
              </a:solidFill>
              <a:latin typeface="Calibri"/>
              <a:ea typeface="Calibri"/>
              <a:cs typeface="Calibri"/>
              <a:sym typeface="Calibri"/>
            </a:endParaRPr>
          </a:p>
        </p:txBody>
      </p:sp>
      <p:sp>
        <p:nvSpPr>
          <p:cNvPr id="209" name="Google Shape;209;g1fa719f7513_0_11"/>
          <p:cNvSpPr txBox="1"/>
          <p:nvPr/>
        </p:nvSpPr>
        <p:spPr>
          <a:xfrm>
            <a:off x="1928794" y="6500834"/>
            <a:ext cx="560477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lt1"/>
                </a:solidFill>
                <a:latin typeface="Calibri"/>
                <a:ea typeface="Calibri"/>
                <a:cs typeface="Calibri"/>
                <a:sym typeface="Calibri"/>
              </a:rPr>
              <a:t>Department of Allied Computer Science &amp; Engineering</a:t>
            </a:r>
            <a:endParaRPr sz="1800" b="1" i="0" u="none" strike="noStrike" cap="none" dirty="0">
              <a:solidFill>
                <a:schemeClr val="lt1"/>
              </a:solidFill>
              <a:latin typeface="Calibri"/>
              <a:ea typeface="Calibri"/>
              <a:cs typeface="Calibri"/>
              <a:sym typeface="Calibri"/>
            </a:endParaRPr>
          </a:p>
        </p:txBody>
      </p:sp>
      <p:graphicFrame>
        <p:nvGraphicFramePr>
          <p:cNvPr id="210" name="Google Shape;210;g1fa719f7513_0_11"/>
          <p:cNvGraphicFramePr/>
          <p:nvPr>
            <p:extLst>
              <p:ext uri="{D42A27DB-BD31-4B8C-83A1-F6EECF244321}">
                <p14:modId xmlns:p14="http://schemas.microsoft.com/office/powerpoint/2010/main" val="1828813806"/>
              </p:ext>
            </p:extLst>
          </p:nvPr>
        </p:nvGraphicFramePr>
        <p:xfrm>
          <a:off x="547250" y="993940"/>
          <a:ext cx="8382575" cy="5351675"/>
        </p:xfrm>
        <a:graphic>
          <a:graphicData uri="http://schemas.openxmlformats.org/drawingml/2006/table">
            <a:tbl>
              <a:tblPr>
                <a:noFill/>
                <a:tableStyleId>{C84FF9F9-83FF-4686-BF48-736AEC0F4FCA}</a:tableStyleId>
              </a:tblPr>
              <a:tblGrid>
                <a:gridCol w="629525">
                  <a:extLst>
                    <a:ext uri="{9D8B030D-6E8A-4147-A177-3AD203B41FA5}">
                      <a16:colId xmlns:a16="http://schemas.microsoft.com/office/drawing/2014/main" val="20000"/>
                    </a:ext>
                  </a:extLst>
                </a:gridCol>
                <a:gridCol w="1478825">
                  <a:extLst>
                    <a:ext uri="{9D8B030D-6E8A-4147-A177-3AD203B41FA5}">
                      <a16:colId xmlns:a16="http://schemas.microsoft.com/office/drawing/2014/main" val="20001"/>
                    </a:ext>
                  </a:extLst>
                </a:gridCol>
                <a:gridCol w="1329546">
                  <a:extLst>
                    <a:ext uri="{9D8B030D-6E8A-4147-A177-3AD203B41FA5}">
                      <a16:colId xmlns:a16="http://schemas.microsoft.com/office/drawing/2014/main" val="20002"/>
                    </a:ext>
                  </a:extLst>
                </a:gridCol>
                <a:gridCol w="3288629">
                  <a:extLst>
                    <a:ext uri="{9D8B030D-6E8A-4147-A177-3AD203B41FA5}">
                      <a16:colId xmlns:a16="http://schemas.microsoft.com/office/drawing/2014/main" val="20003"/>
                    </a:ext>
                  </a:extLst>
                </a:gridCol>
                <a:gridCol w="1656050">
                  <a:extLst>
                    <a:ext uri="{9D8B030D-6E8A-4147-A177-3AD203B41FA5}">
                      <a16:colId xmlns:a16="http://schemas.microsoft.com/office/drawing/2014/main" val="20004"/>
                    </a:ext>
                  </a:extLst>
                </a:gridCol>
              </a:tblGrid>
              <a:tr h="1235850">
                <a:tc>
                  <a:txBody>
                    <a:bodyPr/>
                    <a:lstStyle/>
                    <a:p>
                      <a:pPr marL="0" marR="0" lvl="0" indent="0" algn="ctr" rtl="0">
                        <a:lnSpc>
                          <a:spcPct val="100000"/>
                        </a:lnSpc>
                        <a:spcBef>
                          <a:spcPts val="0"/>
                        </a:spcBef>
                        <a:spcAft>
                          <a:spcPts val="0"/>
                        </a:spcAft>
                        <a:buClr>
                          <a:srgbClr val="000000"/>
                        </a:buClr>
                        <a:buSzPts val="1400"/>
                        <a:buFont typeface="Arial"/>
                        <a:buNone/>
                      </a:pPr>
                      <a:r>
                        <a:rPr lang="en-US" sz="1500" b="1" u="none" strike="noStrike" cap="none">
                          <a:latin typeface="Times New Roman" panose="02020603050405020304" pitchFamily="18" charset="0"/>
                          <a:cs typeface="Times New Roman" panose="02020603050405020304" pitchFamily="18" charset="0"/>
                        </a:rPr>
                        <a:t>S.No</a:t>
                      </a:r>
                      <a:endParaRPr sz="1500" b="1" u="none" strike="noStrike" cap="none">
                        <a:latin typeface="Times New Roman" panose="02020603050405020304" pitchFamily="18" charset="0"/>
                        <a:cs typeface="Times New Roman" panose="02020603050405020304" pitchFamily="18" charset="0"/>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500" b="1" u="none" strike="noStrike" cap="none">
                          <a:latin typeface="Times New Roman" panose="02020603050405020304" pitchFamily="18" charset="0"/>
                          <a:cs typeface="Times New Roman" panose="02020603050405020304" pitchFamily="18" charset="0"/>
                        </a:rPr>
                        <a:t>Paper Title</a:t>
                      </a:r>
                      <a:endParaRPr sz="1500" b="1" u="none" strike="noStrike" cap="none">
                        <a:latin typeface="Times New Roman" panose="02020603050405020304" pitchFamily="18" charset="0"/>
                        <a:cs typeface="Times New Roman" panose="02020603050405020304" pitchFamily="18" charset="0"/>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400"/>
                        <a:buFont typeface="Arial"/>
                        <a:buNone/>
                      </a:pPr>
                      <a:r>
                        <a:rPr lang="en-US" sz="1500" b="1" u="none" strike="noStrike" cap="none">
                          <a:solidFill>
                            <a:schemeClr val="dk1"/>
                          </a:solidFill>
                          <a:latin typeface="Times New Roman" panose="02020603050405020304" pitchFamily="18" charset="0"/>
                          <a:cs typeface="Times New Roman" panose="02020603050405020304" pitchFamily="18" charset="0"/>
                        </a:rPr>
                        <a:t>Methodology</a:t>
                      </a:r>
                      <a:endParaRPr sz="1500" b="1" u="none" strike="noStrike" cap="none">
                        <a:latin typeface="Times New Roman" panose="02020603050405020304" pitchFamily="18" charset="0"/>
                        <a:cs typeface="Times New Roman" panose="02020603050405020304" pitchFamily="18" charset="0"/>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400"/>
                        <a:buFont typeface="Arial"/>
                        <a:buNone/>
                      </a:pPr>
                      <a:r>
                        <a:rPr lang="en-US" sz="1500" b="1" u="none" strike="noStrike" cap="none">
                          <a:solidFill>
                            <a:schemeClr val="dk1"/>
                          </a:solidFill>
                          <a:latin typeface="Times New Roman" panose="02020603050405020304" pitchFamily="18" charset="0"/>
                          <a:cs typeface="Times New Roman" panose="02020603050405020304" pitchFamily="18" charset="0"/>
                        </a:rPr>
                        <a:t>Drawbacks</a:t>
                      </a:r>
                      <a:endParaRPr sz="1500" b="1" u="none" strike="noStrike" cap="none">
                        <a:latin typeface="Times New Roman" panose="02020603050405020304" pitchFamily="18" charset="0"/>
                        <a:cs typeface="Times New Roman" panose="02020603050405020304" pitchFamily="18" charset="0"/>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500" b="1" u="none" strike="noStrike" cap="none" dirty="0">
                          <a:latin typeface="Times New Roman" panose="02020603050405020304" pitchFamily="18" charset="0"/>
                          <a:cs typeface="Times New Roman" panose="02020603050405020304" pitchFamily="18" charset="0"/>
                        </a:rPr>
                        <a:t>Proposed Methodology to overcome those drawbacks</a:t>
                      </a:r>
                      <a:endParaRPr sz="1500" b="1" u="none" strike="noStrike" cap="none" dirty="0">
                        <a:latin typeface="Times New Roman" panose="02020603050405020304" pitchFamily="18" charset="0"/>
                        <a:cs typeface="Times New Roman" panose="02020603050405020304" pitchFamily="18" charset="0"/>
                      </a:endParaRPr>
                    </a:p>
                  </a:txBody>
                  <a:tcPr marL="91425" marR="91425" marT="91425" marB="91425"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4115825">
                <a:tc>
                  <a:txBody>
                    <a:bodyPr/>
                    <a:lstStyle/>
                    <a:p>
                      <a:pPr marL="0" marR="704128" lvl="0" indent="0" algn="just" rtl="0">
                        <a:lnSpc>
                          <a:spcPct val="100000"/>
                        </a:lnSpc>
                        <a:spcBef>
                          <a:spcPts val="0"/>
                        </a:spcBef>
                        <a:spcAft>
                          <a:spcPts val="0"/>
                        </a:spcAft>
                        <a:buClr>
                          <a:srgbClr val="000000"/>
                        </a:buClr>
                        <a:buSzPts val="1400"/>
                        <a:buFont typeface="Arial"/>
                        <a:buNone/>
                      </a:pPr>
                      <a:r>
                        <a:rPr lang="en-US" sz="1800"/>
                        <a:t>5</a:t>
                      </a:r>
                      <a:endParaRPr sz="1800" u="none" strike="noStrike" cap="none"/>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just" rtl="0">
                        <a:lnSpc>
                          <a:spcPct val="150000"/>
                        </a:lnSpc>
                        <a:spcBef>
                          <a:spcPts val="0"/>
                        </a:spcBef>
                        <a:spcAft>
                          <a:spcPts val="0"/>
                        </a:spcAft>
                        <a:buClr>
                          <a:schemeClr val="dk1"/>
                        </a:buClr>
                        <a:buSzPts val="1100"/>
                        <a:buFont typeface="Arial"/>
                        <a:buNone/>
                      </a:pPr>
                      <a:r>
                        <a:rPr lang="en-US" sz="2000" dirty="0">
                          <a:solidFill>
                            <a:schemeClr val="dk1"/>
                          </a:solidFill>
                          <a:highlight>
                            <a:schemeClr val="lt1"/>
                          </a:highlight>
                          <a:latin typeface="Times New Roman" panose="02020603050405020304" pitchFamily="18" charset="0"/>
                          <a:ea typeface="Times New Roman"/>
                          <a:cs typeface="Times New Roman" panose="02020603050405020304" pitchFamily="18" charset="0"/>
                          <a:sym typeface="Times New Roman"/>
                        </a:rPr>
                        <a:t>Cultural Heritage Recommendation Using AI</a:t>
                      </a:r>
                      <a:endParaRPr sz="20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just" rtl="0">
                        <a:lnSpc>
                          <a:spcPct val="150000"/>
                        </a:lnSpc>
                        <a:spcBef>
                          <a:spcPts val="0"/>
                        </a:spcBef>
                        <a:spcAft>
                          <a:spcPts val="0"/>
                        </a:spcAft>
                        <a:buClr>
                          <a:schemeClr val="dk1"/>
                        </a:buClr>
                        <a:buSzPts val="1100"/>
                        <a:buFont typeface="Arial"/>
                        <a:buNone/>
                      </a:pPr>
                      <a:r>
                        <a:rPr lang="en-US" sz="2000" dirty="0">
                          <a:highlight>
                            <a:schemeClr val="lt1"/>
                          </a:highlight>
                          <a:latin typeface="Times New Roman" panose="02020603050405020304" pitchFamily="18" charset="0"/>
                          <a:cs typeface="Times New Roman" panose="02020603050405020304" pitchFamily="18" charset="0"/>
                        </a:rPr>
                        <a:t>AI systems suggesting cultural heritage sites from predefined datasets</a:t>
                      </a:r>
                      <a:endParaRPr sz="2000" u="none" strike="noStrike" cap="none" dirty="0">
                        <a:latin typeface="Times New Roman" panose="02020603050405020304" pitchFamily="18" charset="0"/>
                        <a:cs typeface="Times New Roman" panose="02020603050405020304" pitchFamily="18" charset="0"/>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just" rtl="0">
                        <a:lnSpc>
                          <a:spcPct val="150000"/>
                        </a:lnSpc>
                        <a:spcBef>
                          <a:spcPts val="0"/>
                        </a:spcBef>
                        <a:spcAft>
                          <a:spcPts val="0"/>
                        </a:spcAft>
                        <a:buClr>
                          <a:schemeClr val="dk1"/>
                        </a:buClr>
                        <a:buSzPts val="1100"/>
                        <a:buFont typeface="Arial"/>
                        <a:buNone/>
                      </a:pPr>
                      <a:r>
                        <a:rPr lang="en-US" sz="2000" dirty="0">
                          <a:highlight>
                            <a:schemeClr val="lt1"/>
                          </a:highlight>
                          <a:latin typeface="Times New Roman" panose="02020603050405020304" pitchFamily="18" charset="0"/>
                          <a:cs typeface="Times New Roman" panose="02020603050405020304" pitchFamily="18" charset="0"/>
                        </a:rPr>
                        <a:t>Limited datasets, fail to capture new/trending destinations</a:t>
                      </a:r>
                      <a:endParaRPr sz="20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0" marR="91425" marT="91425" marB="91425">
                    <a:lnT w="9525" cap="flat" cmpd="sng">
                      <a:solidFill>
                        <a:srgbClr val="9E9E9E"/>
                      </a:solidFill>
                      <a:prstDash val="solid"/>
                      <a:round/>
                      <a:headEnd type="none" w="sm" len="sm"/>
                      <a:tailEnd type="none" w="sm" len="sm"/>
                    </a:lnT>
                  </a:tcPr>
                </a:tc>
                <a:tc>
                  <a:txBody>
                    <a:bodyPr/>
                    <a:lstStyle/>
                    <a:p>
                      <a:pPr marL="0" marR="0" lvl="0" indent="0" algn="just" rtl="0">
                        <a:lnSpc>
                          <a:spcPct val="150000"/>
                        </a:lnSpc>
                        <a:spcBef>
                          <a:spcPts val="0"/>
                        </a:spcBef>
                        <a:spcAft>
                          <a:spcPts val="0"/>
                        </a:spcAft>
                        <a:buClr>
                          <a:schemeClr val="dk1"/>
                        </a:buClr>
                        <a:buSzPts val="2000"/>
                        <a:buFont typeface="Arial"/>
                        <a:buNone/>
                      </a:pPr>
                      <a:r>
                        <a:rPr lang="en-US" sz="2000" dirty="0">
                          <a:highlight>
                            <a:schemeClr val="lt1"/>
                          </a:highlight>
                          <a:latin typeface="Times New Roman" panose="02020603050405020304" pitchFamily="18" charset="0"/>
                          <a:cs typeface="Times New Roman" panose="02020603050405020304" pitchFamily="18" charset="0"/>
                        </a:rPr>
                        <a:t>Limited datasets, fail to capture new/trending destinations</a:t>
                      </a:r>
                      <a:r>
                        <a:rPr lang="en-US" sz="2000" u="none" strike="noStrike" cap="none" dirty="0">
                          <a:solidFill>
                            <a:schemeClr val="dk1"/>
                          </a:solidFill>
                          <a:highlight>
                            <a:srgbClr val="FFFFFF"/>
                          </a:highlight>
                          <a:latin typeface="Times New Roman" panose="02020603050405020304" pitchFamily="18" charset="0"/>
                          <a:ea typeface="Times New Roman"/>
                          <a:cs typeface="Times New Roman" panose="02020603050405020304" pitchFamily="18" charset="0"/>
                          <a:sym typeface="Times New Roman"/>
                        </a:rPr>
                        <a:t>.</a:t>
                      </a:r>
                      <a:endParaRPr sz="20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just" rtl="0">
                        <a:lnSpc>
                          <a:spcPct val="150000"/>
                        </a:lnSpc>
                        <a:spcBef>
                          <a:spcPts val="0"/>
                        </a:spcBef>
                        <a:spcAft>
                          <a:spcPts val="0"/>
                        </a:spcAft>
                        <a:buClr>
                          <a:srgbClr val="000000"/>
                        </a:buClr>
                        <a:buSzPts val="2000"/>
                        <a:buFont typeface="Arial"/>
                        <a:buNone/>
                      </a:pPr>
                      <a:endParaRPr sz="200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1f83119d95b_0_34"/>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EXISTING SYSTEM</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217" name="Google Shape;217;g1f83119d95b_0_34"/>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18" name="Google Shape;218;g1f83119d95b_0_34"/>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219" name="Google Shape;219;g1f83119d95b_0_34"/>
          <p:cNvSpPr txBox="1">
            <a:spLocks noGrp="1"/>
          </p:cNvSpPr>
          <p:nvPr>
            <p:ph type="dt" idx="10"/>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06/04/2026</a:t>
            </a:r>
            <a:endParaRPr dirty="0"/>
          </a:p>
        </p:txBody>
      </p:sp>
      <p:sp>
        <p:nvSpPr>
          <p:cNvPr id="220" name="Google Shape;220;g1f83119d95b_0_34"/>
          <p:cNvSpPr txBox="1">
            <a:spLocks noGrp="1"/>
          </p:cNvSpPr>
          <p:nvPr>
            <p:ph type="sldNum" idx="12"/>
          </p:nvPr>
        </p:nvSpPr>
        <p:spPr>
          <a:xfrm>
            <a:off x="6724680" y="6500822"/>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12</a:t>
            </a:fld>
            <a:endParaRPr sz="1800" b="1">
              <a:solidFill>
                <a:schemeClr val="lt1"/>
              </a:solidFill>
            </a:endParaRPr>
          </a:p>
        </p:txBody>
      </p:sp>
      <p:sp>
        <p:nvSpPr>
          <p:cNvPr id="221" name="Google Shape;221;g1f83119d95b_0_34"/>
          <p:cNvSpPr txBox="1">
            <a:spLocks noGrp="1"/>
          </p:cNvSpPr>
          <p:nvPr>
            <p:ph type="ftr" idx="11"/>
          </p:nvPr>
        </p:nvSpPr>
        <p:spPr>
          <a:xfrm>
            <a:off x="2097574" y="6500825"/>
            <a:ext cx="5777183"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dirty="0">
                <a:solidFill>
                  <a:schemeClr val="lt1"/>
                </a:solidFill>
              </a:rPr>
              <a:t>     Department of Allied Computer Science &amp; Engineering</a:t>
            </a:r>
            <a:endParaRPr sz="1800" b="1" dirty="0">
              <a:solidFill>
                <a:schemeClr val="lt1"/>
              </a:solidFill>
            </a:endParaRPr>
          </a:p>
        </p:txBody>
      </p:sp>
      <p:sp>
        <p:nvSpPr>
          <p:cNvPr id="222" name="Google Shape;222;g1f83119d95b_0_34"/>
          <p:cNvSpPr/>
          <p:nvPr/>
        </p:nvSpPr>
        <p:spPr>
          <a:xfrm>
            <a:off x="709127" y="1237671"/>
            <a:ext cx="8149200" cy="4653600"/>
          </a:xfrm>
          <a:prstGeom prst="rect">
            <a:avLst/>
          </a:prstGeom>
          <a:noFill/>
          <a:ln>
            <a:noFill/>
          </a:ln>
        </p:spPr>
        <p:txBody>
          <a:bodyPr spcFirstLastPara="1" wrap="square" lIns="91425" tIns="45700" rIns="91425" bIns="45700" anchor="t" anchorCtr="0">
            <a:no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Current exploration platforms are mainly tourism-oriented and focus on popular destinations.</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Most systems rely on location-based recommendations and user ratings.</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Information retrieval is primarily done through keyword-based search methods.</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Some platforms use basic AI </a:t>
            </a:r>
            <a:r>
              <a:rPr lang="en-US" sz="2000" dirty="0" err="1">
                <a:latin typeface="Times New Roman" panose="02020603050405020304" pitchFamily="18" charset="0"/>
                <a:cs typeface="Times New Roman" panose="02020603050405020304" pitchFamily="18" charset="0"/>
              </a:rPr>
              <a:t>chatbots</a:t>
            </a:r>
            <a:r>
              <a:rPr lang="en-US" sz="2000" dirty="0">
                <a:latin typeface="Times New Roman" panose="02020603050405020304" pitchFamily="18" charset="0"/>
                <a:cs typeface="Times New Roman" panose="02020603050405020304" pitchFamily="18" charset="0"/>
              </a:rPr>
              <a:t> to provide general travel information.</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Cultural and heritage information is available but limited to specific locations or monuments.</a:t>
            </a:r>
          </a:p>
          <a:p>
            <a:pPr marL="101600" algn="just">
              <a:lnSpc>
                <a:spcPct val="150000"/>
              </a:lnSpc>
              <a:spcBef>
                <a:spcPts val="1200"/>
              </a:spcBef>
              <a:buClr>
                <a:schemeClr val="dk1"/>
              </a:buClr>
              <a:buSzPts val="2000"/>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g1f83119d95b_0_45"/>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EXISTING SYSTEM</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229" name="Google Shape;229;g1f83119d95b_0_45"/>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30" name="Google Shape;230;g1f83119d95b_0_45"/>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231" name="Google Shape;231;g1f83119d95b_0_45"/>
          <p:cNvSpPr txBox="1">
            <a:spLocks noGrp="1"/>
          </p:cNvSpPr>
          <p:nvPr>
            <p:ph type="dt" idx="10"/>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06/04/2026</a:t>
            </a:r>
            <a:endParaRPr dirty="0"/>
          </a:p>
        </p:txBody>
      </p:sp>
      <p:sp>
        <p:nvSpPr>
          <p:cNvPr id="232" name="Google Shape;232;g1f83119d95b_0_45"/>
          <p:cNvSpPr txBox="1">
            <a:spLocks noGrp="1"/>
          </p:cNvSpPr>
          <p:nvPr>
            <p:ph type="sldNum" idx="12"/>
          </p:nvPr>
        </p:nvSpPr>
        <p:spPr>
          <a:xfrm>
            <a:off x="6724680" y="6500822"/>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13</a:t>
            </a:fld>
            <a:endParaRPr sz="1800" b="1">
              <a:solidFill>
                <a:schemeClr val="lt1"/>
              </a:solidFill>
            </a:endParaRPr>
          </a:p>
        </p:txBody>
      </p:sp>
      <p:sp>
        <p:nvSpPr>
          <p:cNvPr id="233" name="Google Shape;233;g1f83119d95b_0_45"/>
          <p:cNvSpPr txBox="1">
            <a:spLocks noGrp="1"/>
          </p:cNvSpPr>
          <p:nvPr>
            <p:ph type="ftr" idx="11"/>
          </p:nvPr>
        </p:nvSpPr>
        <p:spPr>
          <a:xfrm>
            <a:off x="2097575" y="6500825"/>
            <a:ext cx="5722592"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dirty="0">
                <a:solidFill>
                  <a:schemeClr val="lt1"/>
                </a:solidFill>
              </a:rPr>
              <a:t>     Department of Allied Computer Science &amp; Engineering</a:t>
            </a:r>
            <a:endParaRPr sz="1800" b="1" dirty="0">
              <a:solidFill>
                <a:schemeClr val="lt1"/>
              </a:solidFill>
            </a:endParaRPr>
          </a:p>
        </p:txBody>
      </p:sp>
      <p:sp>
        <p:nvSpPr>
          <p:cNvPr id="234" name="Google Shape;234;g1f83119d95b_0_45"/>
          <p:cNvSpPr/>
          <p:nvPr/>
        </p:nvSpPr>
        <p:spPr>
          <a:xfrm>
            <a:off x="709127" y="1237671"/>
            <a:ext cx="8149200" cy="4653600"/>
          </a:xfrm>
          <a:prstGeom prst="rect">
            <a:avLst/>
          </a:prstGeom>
          <a:noFill/>
          <a:ln>
            <a:noFill/>
          </a:ln>
        </p:spPr>
        <p:txBody>
          <a:bodyPr spcFirstLastPara="1" wrap="square" lIns="91425" tIns="45700" rIns="91425" bIns="45700" anchor="t" anchorCtr="0">
            <a:noAutofit/>
          </a:bodyPr>
          <a:lstStyle/>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These systems provide travel assistance but not structured knowledge exploration.</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Current exploration platforms are mainly tourism-oriented and focus on popular destinations.</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Most systems rely on location-based recommendations and user ratings.</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Information retrieval is primarily done through keyword-based search methods.</a:t>
            </a:r>
          </a:p>
          <a:p>
            <a:pPr marL="101600" lvl="0" algn="just">
              <a:lnSpc>
                <a:spcPct val="150000"/>
              </a:lnSpc>
              <a:spcBef>
                <a:spcPts val="1200"/>
              </a:spcBef>
              <a:buClr>
                <a:schemeClr val="dk1"/>
              </a:buClr>
              <a:buSzPts val="2000"/>
            </a:pPr>
            <a:endParaRPr sz="200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9C1B89D-4D0B-191D-B3B4-759DDAC7AFBA}"/>
              </a:ext>
            </a:extLst>
          </p:cNvPr>
          <p:cNvSpPr>
            <a:spLocks noGrp="1"/>
          </p:cNvSpPr>
          <p:nvPr>
            <p:ph type="body" idx="1"/>
          </p:nvPr>
        </p:nvSpPr>
        <p:spPr>
          <a:xfrm>
            <a:off x="457200" y="1201004"/>
            <a:ext cx="8229600" cy="4925160"/>
          </a:xfrm>
        </p:spPr>
        <p:txBody>
          <a:bodyPr>
            <a:noAutofit/>
          </a:bodyPr>
          <a:lstStyle/>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Lack of real-time personalization.</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Limited support for budget-specific exploration.</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Complex and unintuitive user interfaces.</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Absence of AI-driven chatbot interaction.</a:t>
            </a:r>
          </a:p>
          <a:p>
            <a:pPr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No focus on academic or research-oriented exploration.</a:t>
            </a:r>
          </a:p>
        </p:txBody>
      </p:sp>
      <p:sp>
        <p:nvSpPr>
          <p:cNvPr id="2" name="Slide Number Placeholder 1">
            <a:extLst>
              <a:ext uri="{FF2B5EF4-FFF2-40B4-BE49-F238E27FC236}">
                <a16:creationId xmlns:a16="http://schemas.microsoft.com/office/drawing/2014/main" id="{D8AEA1BC-43FA-531C-07AA-AACCFE954528}"/>
              </a:ext>
            </a:extLst>
          </p:cNvPr>
          <p:cNvSpPr>
            <a:spLocks noGrp="1"/>
          </p:cNvSpPr>
          <p:nvPr>
            <p:ph type="sldNum" idx="12"/>
          </p:nvPr>
        </p:nvSpPr>
        <p:spPr>
          <a:xfrm>
            <a:off x="6553200" y="6564466"/>
            <a:ext cx="2133600" cy="285600"/>
          </a:xfrm>
        </p:spPr>
        <p:txBody>
          <a:bodyPr/>
          <a:lstStyle/>
          <a:p>
            <a:pPr marL="0" lvl="0" indent="0" algn="r" rtl="0">
              <a:spcBef>
                <a:spcPts val="0"/>
              </a:spcBef>
              <a:spcAft>
                <a:spcPts val="0"/>
              </a:spcAft>
              <a:buNone/>
            </a:pPr>
            <a:fld id="{00000000-1234-1234-1234-123412341234}" type="slidenum">
              <a:rPr lang="en-US" smtClean="0"/>
              <a:t>14</a:t>
            </a:fld>
            <a:endParaRPr lang="en-US" dirty="0"/>
          </a:p>
        </p:txBody>
      </p:sp>
      <p:pic>
        <p:nvPicPr>
          <p:cNvPr id="6" name="Google Shape;230;g1f83119d95b_0_45">
            <a:extLst>
              <a:ext uri="{FF2B5EF4-FFF2-40B4-BE49-F238E27FC236}">
                <a16:creationId xmlns:a16="http://schemas.microsoft.com/office/drawing/2014/main" id="{6CE238E4-D911-00E3-2952-9BFBED57FBB4}"/>
              </a:ext>
            </a:extLst>
          </p:cNvPr>
          <p:cNvPicPr preferRelativeResize="0"/>
          <p:nvPr/>
        </p:nvPicPr>
        <p:blipFill rotWithShape="1">
          <a:blip r:embed="rId2">
            <a:alphaModFix/>
          </a:blip>
          <a:srcRect/>
          <a:stretch/>
        </p:blipFill>
        <p:spPr>
          <a:xfrm>
            <a:off x="129465" y="0"/>
            <a:ext cx="870000" cy="857232"/>
          </a:xfrm>
          <a:prstGeom prst="rect">
            <a:avLst/>
          </a:prstGeom>
          <a:noFill/>
          <a:ln>
            <a:noFill/>
          </a:ln>
        </p:spPr>
      </p:pic>
      <p:sp>
        <p:nvSpPr>
          <p:cNvPr id="7" name="Google Shape;228;g1f83119d95b_0_45">
            <a:extLst>
              <a:ext uri="{FF2B5EF4-FFF2-40B4-BE49-F238E27FC236}">
                <a16:creationId xmlns:a16="http://schemas.microsoft.com/office/drawing/2014/main" id="{904E908A-176E-10F4-2CA3-A009BAD73E0E}"/>
              </a:ext>
            </a:extLst>
          </p:cNvPr>
          <p:cNvSpPr>
            <a:spLocks noGrp="1"/>
          </p:cNvSpPr>
          <p:nvPr>
            <p:ph type="title"/>
          </p:nvPr>
        </p:nvSpPr>
        <p:spPr>
          <a:xfrm>
            <a:off x="1112482" y="0"/>
            <a:ext cx="7799507" cy="857232"/>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chemeClr val="lt1"/>
                </a:solidFill>
                <a:latin typeface="Times New Roman" panose="02020603050405020304" pitchFamily="18" charset="0"/>
                <a:cs typeface="Times New Roman" panose="02020603050405020304" pitchFamily="18" charset="0"/>
                <a:sym typeface="Calibri"/>
              </a:rPr>
              <a:t>EXISTING SYSTEM DRAWBACKS</a:t>
            </a:r>
            <a:endParaRPr sz="1400" b="0" i="0" u="none" strike="noStrike" cap="none"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8" name="Google Shape;197;g1c568adccc6_0_11">
            <a:extLst>
              <a:ext uri="{FF2B5EF4-FFF2-40B4-BE49-F238E27FC236}">
                <a16:creationId xmlns:a16="http://schemas.microsoft.com/office/drawing/2014/main" id="{7B9D1725-2BB4-FC35-B789-4BF8E0006752}"/>
              </a:ext>
            </a:extLst>
          </p:cNvPr>
          <p:cNvSpPr txBox="1"/>
          <p:nvPr/>
        </p:nvSpPr>
        <p:spPr>
          <a:xfrm>
            <a:off x="6724680" y="6572400"/>
            <a:ext cx="2133600" cy="293534"/>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1" i="0" u="none" strike="noStrike" cap="none" dirty="0">
              <a:solidFill>
                <a:schemeClr val="lt1"/>
              </a:solidFill>
              <a:latin typeface="Calibri"/>
              <a:ea typeface="Calibri"/>
              <a:cs typeface="Calibri"/>
              <a:sym typeface="Calibri"/>
            </a:endParaRPr>
          </a:p>
        </p:txBody>
      </p:sp>
      <p:sp>
        <p:nvSpPr>
          <p:cNvPr id="9" name="Google Shape;241;g1f83119d95b_0_62">
            <a:extLst>
              <a:ext uri="{FF2B5EF4-FFF2-40B4-BE49-F238E27FC236}">
                <a16:creationId xmlns:a16="http://schemas.microsoft.com/office/drawing/2014/main" id="{1054BF50-64D4-8FB7-9B37-65CB73A17955}"/>
              </a:ext>
            </a:extLst>
          </p:cNvPr>
          <p:cNvSpPr/>
          <p:nvPr/>
        </p:nvSpPr>
        <p:spPr>
          <a:xfrm>
            <a:off x="0" y="6469936"/>
            <a:ext cx="9144000" cy="388064"/>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rgbClr val="000000"/>
              </a:buClr>
              <a:buSzPts val="1800"/>
              <a:buFont typeface="Arial"/>
              <a:buNone/>
            </a:pPr>
            <a:r>
              <a:rPr lang="en-US" sz="18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  </a:t>
            </a:r>
            <a:r>
              <a:rPr lang="en-US" sz="1800" b="1" dirty="0">
                <a:solidFill>
                  <a:schemeClr val="lt1"/>
                </a:solidFill>
                <a:latin typeface="Times New Roman" panose="02020603050405020304" pitchFamily="18" charset="0"/>
                <a:ea typeface="Calibri"/>
                <a:cs typeface="Times New Roman" panose="02020603050405020304" pitchFamily="18" charset="0"/>
                <a:sym typeface="Calibri"/>
              </a:rPr>
              <a:t>06</a:t>
            </a:r>
            <a:r>
              <a:rPr lang="en-US" sz="18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/04/2026                     Department of Allied Computer Science &amp; Engineering                14  </a:t>
            </a:r>
            <a:endParaRPr sz="18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27270058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g1f83119d95b_0_62"/>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PROPOSED SYSTEM</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241" name="Google Shape;241;g1f83119d95b_0_62"/>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42" name="Google Shape;242;g1f83119d95b_0_62"/>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243" name="Google Shape;243;g1f83119d95b_0_62"/>
          <p:cNvSpPr txBox="1">
            <a:spLocks noGrp="1"/>
          </p:cNvSpPr>
          <p:nvPr>
            <p:ph type="dt" idx="10"/>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06/04/2026</a:t>
            </a:r>
            <a:endParaRPr dirty="0"/>
          </a:p>
        </p:txBody>
      </p:sp>
      <p:sp>
        <p:nvSpPr>
          <p:cNvPr id="244" name="Google Shape;244;g1f83119d95b_0_62"/>
          <p:cNvSpPr txBox="1">
            <a:spLocks noGrp="1"/>
          </p:cNvSpPr>
          <p:nvPr>
            <p:ph type="sldNum" idx="12"/>
          </p:nvPr>
        </p:nvSpPr>
        <p:spPr>
          <a:xfrm>
            <a:off x="6724680" y="6500822"/>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15</a:t>
            </a:fld>
            <a:endParaRPr sz="1800" b="1" dirty="0">
              <a:solidFill>
                <a:schemeClr val="lt1"/>
              </a:solidFill>
            </a:endParaRPr>
          </a:p>
        </p:txBody>
      </p:sp>
      <p:sp>
        <p:nvSpPr>
          <p:cNvPr id="245" name="Google Shape;245;g1f83119d95b_0_62"/>
          <p:cNvSpPr txBox="1">
            <a:spLocks noGrp="1"/>
          </p:cNvSpPr>
          <p:nvPr>
            <p:ph type="ftr" idx="11"/>
          </p:nvPr>
        </p:nvSpPr>
        <p:spPr>
          <a:xfrm>
            <a:off x="2097574" y="6500825"/>
            <a:ext cx="5777183"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dirty="0">
                <a:solidFill>
                  <a:schemeClr val="lt1"/>
                </a:solidFill>
              </a:rPr>
              <a:t>     Department of Allied Computer Science &amp; Engineering</a:t>
            </a:r>
            <a:endParaRPr sz="1800" b="1" dirty="0">
              <a:solidFill>
                <a:schemeClr val="lt1"/>
              </a:solidFill>
            </a:endParaRPr>
          </a:p>
        </p:txBody>
      </p:sp>
      <p:sp>
        <p:nvSpPr>
          <p:cNvPr id="246" name="Google Shape;246;g1f83119d95b_0_62"/>
          <p:cNvSpPr/>
          <p:nvPr/>
        </p:nvSpPr>
        <p:spPr>
          <a:xfrm>
            <a:off x="351692" y="1237957"/>
            <a:ext cx="8506635" cy="4653314"/>
          </a:xfrm>
          <a:prstGeom prst="rect">
            <a:avLst/>
          </a:prstGeom>
          <a:noFill/>
          <a:ln>
            <a:noFill/>
          </a:ln>
        </p:spPr>
        <p:txBody>
          <a:bodyPr spcFirstLastPara="1" wrap="square" lIns="91425" tIns="45700" rIns="91425" bIns="45700" anchor="t" anchorCtr="0">
            <a:noAutofit/>
          </a:bodyPr>
          <a:lstStyle/>
          <a:p>
            <a:pPr marL="457200" lvl="0" indent="-355600" algn="just">
              <a:lnSpc>
                <a:spcPct val="150000"/>
              </a:lnSpc>
              <a:spcBef>
                <a:spcPts val="1200"/>
              </a:spcBef>
              <a:buClr>
                <a:schemeClr val="dk1"/>
              </a:buClr>
              <a:buSzPts val="2000"/>
              <a:buFont typeface="Times New Roman"/>
              <a:buChar char="⮚"/>
            </a:pPr>
            <a:r>
              <a:rPr lang="en-US" sz="2000" dirty="0">
                <a:latin typeface="Times New Roman" panose="02020603050405020304" pitchFamily="18" charset="0"/>
                <a:cs typeface="Times New Roman" panose="02020603050405020304" pitchFamily="18" charset="0"/>
              </a:rPr>
              <a:t>The AI Driven Deep Domain Navigator addresses these limitations through an AI-powered recommendation engine integrated with a user-friendly design and a modular backend. </a:t>
            </a:r>
          </a:p>
          <a:p>
            <a:pPr marL="457200" lvl="0" indent="-355600" algn="just">
              <a:lnSpc>
                <a:spcPct val="150000"/>
              </a:lnSpc>
              <a:spcBef>
                <a:spcPts val="1200"/>
              </a:spcBef>
              <a:buClr>
                <a:schemeClr val="dk1"/>
              </a:buClr>
              <a:buSzPts val="2000"/>
              <a:buFont typeface="Times New Roman"/>
              <a:buChar char="⮚"/>
            </a:pPr>
            <a:r>
              <a:rPr lang="en-US" sz="2000" dirty="0">
                <a:latin typeface="Times New Roman" panose="02020603050405020304" pitchFamily="18" charset="0"/>
                <a:cs typeface="Times New Roman" panose="02020603050405020304" pitchFamily="18" charset="0"/>
              </a:rPr>
              <a:t>The system allows users to search by category and location, while simultaneously interacting with an AI </a:t>
            </a:r>
            <a:r>
              <a:rPr lang="en-US" sz="2000" dirty="0" err="1">
                <a:latin typeface="Times New Roman" panose="02020603050405020304" pitchFamily="18" charset="0"/>
                <a:cs typeface="Times New Roman" panose="02020603050405020304" pitchFamily="18" charset="0"/>
              </a:rPr>
              <a:t>chatbot</a:t>
            </a:r>
            <a:r>
              <a:rPr lang="en-US" sz="2000" dirty="0">
                <a:latin typeface="Times New Roman" panose="02020603050405020304" pitchFamily="18" charset="0"/>
                <a:cs typeface="Times New Roman" panose="02020603050405020304" pitchFamily="18" charset="0"/>
              </a:rPr>
              <a:t> for context-aware suggestions.</a:t>
            </a:r>
            <a:endParaRPr lang="en-US" sz="2000" dirty="0">
              <a:solidFill>
                <a:schemeClr val="dk1"/>
              </a:solidFill>
              <a:latin typeface="Times New Roman"/>
              <a:cs typeface="Times New Roman"/>
              <a:sym typeface="Times New Roman"/>
            </a:endParaRPr>
          </a:p>
          <a:p>
            <a:pPr marL="457200" lvl="0" indent="-355600" algn="just">
              <a:lnSpc>
                <a:spcPct val="150000"/>
              </a:lnSpc>
              <a:spcBef>
                <a:spcPts val="1200"/>
              </a:spcBef>
              <a:buClr>
                <a:schemeClr val="dk1"/>
              </a:buClr>
              <a:buSzPts val="2000"/>
              <a:buFont typeface="Times New Roman"/>
              <a:buChar char="⮚"/>
            </a:pPr>
            <a:r>
              <a:rPr lang="en-US" sz="2000" dirty="0">
                <a:latin typeface="Times New Roman" panose="02020603050405020304" pitchFamily="18" charset="0"/>
                <a:cs typeface="Times New Roman" panose="02020603050405020304" pitchFamily="18" charset="0"/>
              </a:rPr>
              <a:t> MongoDB ensures efficient storage and retrieval of user data, reviews, and feedback</a:t>
            </a:r>
          </a:p>
          <a:p>
            <a:pPr marL="101600" lvl="0" algn="just">
              <a:lnSpc>
                <a:spcPct val="150000"/>
              </a:lnSpc>
              <a:spcBef>
                <a:spcPts val="1200"/>
              </a:spcBef>
              <a:buClr>
                <a:schemeClr val="dk1"/>
              </a:buClr>
              <a:buSzPts val="2000"/>
            </a:pPr>
            <a:endParaRPr lang="en-US" sz="2000" dirty="0">
              <a:latin typeface="Times New Roman" panose="02020603050405020304" pitchFamily="18" charset="0"/>
              <a:cs typeface="Times New Roman" panose="02020603050405020304" pitchFamily="18" charset="0"/>
            </a:endParaRPr>
          </a:p>
          <a:p>
            <a:pPr marL="457200" lvl="0" indent="-355600" algn="just">
              <a:lnSpc>
                <a:spcPct val="150000"/>
              </a:lnSpc>
              <a:spcBef>
                <a:spcPts val="1200"/>
              </a:spcBef>
              <a:buClr>
                <a:schemeClr val="dk1"/>
              </a:buClr>
              <a:buSzPts val="2000"/>
              <a:buFont typeface="Times New Roman"/>
              <a:buChar char="⮚"/>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g1f83119d95b_0_76"/>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PROPOSED SYSTEM</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253" name="Google Shape;253;g1f83119d95b_0_76"/>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54" name="Google Shape;254;g1f83119d95b_0_76"/>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255" name="Google Shape;255;g1f83119d95b_0_76"/>
          <p:cNvSpPr txBox="1">
            <a:spLocks noGrp="1"/>
          </p:cNvSpPr>
          <p:nvPr>
            <p:ph type="dt" idx="10"/>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06/04/2026</a:t>
            </a:r>
            <a:endParaRPr dirty="0"/>
          </a:p>
        </p:txBody>
      </p:sp>
      <p:sp>
        <p:nvSpPr>
          <p:cNvPr id="256" name="Google Shape;256;g1f83119d95b_0_76"/>
          <p:cNvSpPr txBox="1">
            <a:spLocks noGrp="1"/>
          </p:cNvSpPr>
          <p:nvPr>
            <p:ph type="sldNum" idx="12"/>
          </p:nvPr>
        </p:nvSpPr>
        <p:spPr>
          <a:xfrm>
            <a:off x="6724680" y="6500822"/>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16</a:t>
            </a:fld>
            <a:endParaRPr sz="1800" b="1">
              <a:solidFill>
                <a:schemeClr val="lt1"/>
              </a:solidFill>
            </a:endParaRPr>
          </a:p>
        </p:txBody>
      </p:sp>
      <p:sp>
        <p:nvSpPr>
          <p:cNvPr id="257" name="Google Shape;257;g1f83119d95b_0_76"/>
          <p:cNvSpPr txBox="1">
            <a:spLocks noGrp="1"/>
          </p:cNvSpPr>
          <p:nvPr>
            <p:ph type="ftr" idx="11"/>
          </p:nvPr>
        </p:nvSpPr>
        <p:spPr>
          <a:xfrm>
            <a:off x="2097575" y="6500825"/>
            <a:ext cx="5640706"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dirty="0">
                <a:solidFill>
                  <a:schemeClr val="lt1"/>
                </a:solidFill>
              </a:rPr>
              <a:t>     Department of Allied Computer Science &amp; Engineering</a:t>
            </a:r>
            <a:endParaRPr sz="1800" b="1" dirty="0">
              <a:solidFill>
                <a:schemeClr val="lt1"/>
              </a:solidFill>
            </a:endParaRPr>
          </a:p>
        </p:txBody>
      </p:sp>
      <p:sp>
        <p:nvSpPr>
          <p:cNvPr id="258" name="Google Shape;258;g1f83119d95b_0_76"/>
          <p:cNvSpPr/>
          <p:nvPr/>
        </p:nvSpPr>
        <p:spPr>
          <a:xfrm>
            <a:off x="709127" y="1237671"/>
            <a:ext cx="8149200" cy="4653600"/>
          </a:xfrm>
          <a:prstGeom prst="rect">
            <a:avLst/>
          </a:prstGeom>
          <a:noFill/>
          <a:ln>
            <a:noFill/>
          </a:ln>
        </p:spPr>
        <p:txBody>
          <a:bodyPr spcFirstLastPara="1" wrap="square" lIns="91425" tIns="45700" rIns="91425" bIns="45700" anchor="t" anchorCtr="0">
            <a:noAutofit/>
          </a:bodyPr>
          <a:lstStyle/>
          <a:p>
            <a:pPr marL="457200" lvl="0" indent="-355600" algn="just">
              <a:lnSpc>
                <a:spcPct val="150000"/>
              </a:lnSpc>
              <a:spcBef>
                <a:spcPts val="1200"/>
              </a:spcBef>
              <a:buClr>
                <a:schemeClr val="dk1"/>
              </a:buClr>
              <a:buSzPts val="2000"/>
              <a:buFont typeface="Times New Roman"/>
              <a:buChar char="⮚"/>
            </a:pPr>
            <a:r>
              <a:rPr lang="en-US" sz="2000" dirty="0">
                <a:latin typeface="Times New Roman" panose="02020603050405020304" pitchFamily="18" charset="0"/>
                <a:cs typeface="Times New Roman" panose="02020603050405020304" pitchFamily="18" charset="0"/>
              </a:rPr>
              <a:t>Unlike traditional platforms, this system emphasizes personalization not only  for scholars and researchers, offering them structured sectoral insights in education, healthcare, culture, and heritage. </a:t>
            </a:r>
          </a:p>
          <a:p>
            <a:pPr marL="457200" indent="-355600" algn="just">
              <a:lnSpc>
                <a:spcPct val="150000"/>
              </a:lnSpc>
              <a:spcBef>
                <a:spcPts val="1200"/>
              </a:spcBef>
              <a:buClr>
                <a:schemeClr val="dk1"/>
              </a:buClr>
              <a:buSzPts val="2000"/>
              <a:buFont typeface="Times New Roman"/>
              <a:buChar char="⮚"/>
            </a:pPr>
            <a:r>
              <a:rPr lang="en-US" sz="2000" dirty="0">
                <a:latin typeface="Times New Roman" panose="02020603050405020304" pitchFamily="18" charset="0"/>
                <a:cs typeface="Times New Roman" panose="02020603050405020304" pitchFamily="18" charset="0"/>
              </a:rPr>
              <a:t>The system uses MongoDB, a flexible NoSQL database, to manage large volumes of data efficiently. Information such as user accounts, bookmarked destinations, reviews, and </a:t>
            </a:r>
            <a:r>
              <a:rPr lang="en-US" sz="2000" dirty="0" err="1">
                <a:latin typeface="Times New Roman" panose="02020603050405020304" pitchFamily="18" charset="0"/>
                <a:cs typeface="Times New Roman" panose="02020603050405020304" pitchFamily="18" charset="0"/>
              </a:rPr>
              <a:t>chatbot</a:t>
            </a:r>
            <a:r>
              <a:rPr lang="en-US" sz="2000" dirty="0">
                <a:latin typeface="Times New Roman" panose="02020603050405020304" pitchFamily="18" charset="0"/>
                <a:cs typeface="Times New Roman" panose="02020603050405020304" pitchFamily="18" charset="0"/>
              </a:rPr>
              <a:t> interactions is stored in well-structured collections. </a:t>
            </a:r>
          </a:p>
          <a:p>
            <a:pPr marL="101600" lvl="0" algn="just">
              <a:lnSpc>
                <a:spcPct val="150000"/>
              </a:lnSpc>
              <a:spcBef>
                <a:spcPts val="1200"/>
              </a:spcBef>
              <a:buClr>
                <a:schemeClr val="dk1"/>
              </a:buClr>
              <a:buSzPts val="2000"/>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g1fa6dab12b8_0_0"/>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PROPOSED SYSTEM</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265" name="Google Shape;265;g1fa6dab12b8_0_0"/>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66" name="Google Shape;266;g1fa6dab12b8_0_0"/>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267" name="Google Shape;267;g1fa6dab12b8_0_0"/>
          <p:cNvSpPr txBox="1">
            <a:spLocks noGrp="1"/>
          </p:cNvSpPr>
          <p:nvPr>
            <p:ph type="dt" idx="10"/>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06/04/2026</a:t>
            </a:r>
            <a:endParaRPr dirty="0"/>
          </a:p>
        </p:txBody>
      </p:sp>
      <p:sp>
        <p:nvSpPr>
          <p:cNvPr id="268" name="Google Shape;268;g1fa6dab12b8_0_0"/>
          <p:cNvSpPr txBox="1">
            <a:spLocks noGrp="1"/>
          </p:cNvSpPr>
          <p:nvPr>
            <p:ph type="sldNum" idx="12"/>
          </p:nvPr>
        </p:nvSpPr>
        <p:spPr>
          <a:xfrm>
            <a:off x="6724680" y="6500822"/>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17</a:t>
            </a:fld>
            <a:endParaRPr sz="1800" b="1">
              <a:solidFill>
                <a:schemeClr val="lt1"/>
              </a:solidFill>
            </a:endParaRPr>
          </a:p>
        </p:txBody>
      </p:sp>
      <p:sp>
        <p:nvSpPr>
          <p:cNvPr id="269" name="Google Shape;269;g1fa6dab12b8_0_0"/>
          <p:cNvSpPr txBox="1">
            <a:spLocks noGrp="1"/>
          </p:cNvSpPr>
          <p:nvPr>
            <p:ph type="ftr" idx="11"/>
          </p:nvPr>
        </p:nvSpPr>
        <p:spPr>
          <a:xfrm>
            <a:off x="2097575" y="6500825"/>
            <a:ext cx="5620234"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dirty="0">
                <a:solidFill>
                  <a:schemeClr val="lt1"/>
                </a:solidFill>
              </a:rPr>
              <a:t>     Department of Allied Computer Science &amp; Engineering</a:t>
            </a:r>
            <a:endParaRPr sz="1800" b="1" dirty="0">
              <a:solidFill>
                <a:schemeClr val="lt1"/>
              </a:solidFill>
            </a:endParaRPr>
          </a:p>
        </p:txBody>
      </p:sp>
      <p:sp>
        <p:nvSpPr>
          <p:cNvPr id="270" name="Google Shape;270;g1fa6dab12b8_0_0"/>
          <p:cNvSpPr/>
          <p:nvPr/>
        </p:nvSpPr>
        <p:spPr>
          <a:xfrm>
            <a:off x="709127" y="1237671"/>
            <a:ext cx="8149200" cy="4653600"/>
          </a:xfrm>
          <a:prstGeom prst="rect">
            <a:avLst/>
          </a:prstGeom>
          <a:noFill/>
          <a:ln>
            <a:noFill/>
          </a:ln>
        </p:spPr>
        <p:txBody>
          <a:bodyPr spcFirstLastPara="1" wrap="square" lIns="91425" tIns="45700" rIns="91425" bIns="45700" anchor="t" anchorCtr="0">
            <a:noAutofit/>
          </a:bodyPr>
          <a:lstStyle/>
          <a:p>
            <a:pPr marL="457200" marR="231466" lvl="0" indent="0" algn="just" rtl="0">
              <a:lnSpc>
                <a:spcPct val="96158"/>
              </a:lnSpc>
              <a:spcBef>
                <a:spcPts val="120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pic>
        <p:nvPicPr>
          <p:cNvPr id="2" name="Content Placeholder 3" descr="use_case_diagram.png">
            <a:extLst>
              <a:ext uri="{FF2B5EF4-FFF2-40B4-BE49-F238E27FC236}">
                <a16:creationId xmlns:a16="http://schemas.microsoft.com/office/drawing/2014/main" id="{7C3E9DA6-E98D-2EE5-C1CE-74E9473960F7}"/>
              </a:ext>
            </a:extLst>
          </p:cNvPr>
          <p:cNvPicPr>
            <a:picLocks noChangeAspect="1"/>
          </p:cNvPicPr>
          <p:nvPr/>
        </p:nvPicPr>
        <p:blipFill rotWithShape="1">
          <a:blip r:embed="rId4"/>
          <a:srcRect t="7103"/>
          <a:stretch/>
        </p:blipFill>
        <p:spPr>
          <a:xfrm>
            <a:off x="1426191" y="1589649"/>
            <a:ext cx="6291618" cy="430162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1b8890723e1_0_50"/>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a:buNone/>
            </a:pPr>
            <a:r>
              <a:rPr lang="en-US" sz="36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SYSTEM ARCHITECTURE</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277" name="Google Shape;277;g1b8890723e1_0_50"/>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8" name="Google Shape;278;g1b8890723e1_0_50"/>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279" name="Google Shape;279;g1b8890723e1_0_50"/>
          <p:cNvSpPr txBox="1"/>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1" dirty="0">
                <a:solidFill>
                  <a:schemeClr val="lt1"/>
                </a:solidFill>
                <a:latin typeface="Calibri"/>
                <a:ea typeface="Calibri"/>
                <a:cs typeface="Calibri"/>
                <a:sym typeface="Calibri"/>
              </a:rPr>
              <a:t>06</a:t>
            </a:r>
            <a:r>
              <a:rPr lang="en-US" sz="1800" b="1" i="0" u="none" strike="noStrike" cap="none" dirty="0">
                <a:solidFill>
                  <a:schemeClr val="lt1"/>
                </a:solidFill>
                <a:latin typeface="Calibri"/>
                <a:ea typeface="Calibri"/>
                <a:cs typeface="Calibri"/>
                <a:sym typeface="Calibri"/>
              </a:rPr>
              <a:t>/04/2026</a:t>
            </a:r>
            <a:endParaRPr sz="1400" b="0" i="0" u="none" strike="noStrike" cap="none" dirty="0">
              <a:solidFill>
                <a:srgbClr val="000000"/>
              </a:solidFill>
              <a:latin typeface="Arial"/>
              <a:ea typeface="Arial"/>
              <a:cs typeface="Arial"/>
              <a:sym typeface="Arial"/>
            </a:endParaRPr>
          </a:p>
        </p:txBody>
      </p:sp>
      <p:sp>
        <p:nvSpPr>
          <p:cNvPr id="280" name="Google Shape;280;g1b8890723e1_0_50"/>
          <p:cNvSpPr txBox="1"/>
          <p:nvPr/>
        </p:nvSpPr>
        <p:spPr>
          <a:xfrm>
            <a:off x="6724680" y="6500834"/>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1" i="0" u="none" strike="noStrike" cap="none">
                <a:solidFill>
                  <a:schemeClr val="lt1"/>
                </a:solidFill>
                <a:latin typeface="Calibri"/>
                <a:ea typeface="Calibri"/>
                <a:cs typeface="Calibri"/>
                <a:sym typeface="Calibri"/>
              </a:rPr>
              <a:t>18</a:t>
            </a:fld>
            <a:endParaRPr sz="1800" b="1" i="0" u="none" strike="noStrike" cap="none">
              <a:solidFill>
                <a:schemeClr val="lt1"/>
              </a:solidFill>
              <a:latin typeface="Calibri"/>
              <a:ea typeface="Calibri"/>
              <a:cs typeface="Calibri"/>
              <a:sym typeface="Calibri"/>
            </a:endParaRPr>
          </a:p>
        </p:txBody>
      </p:sp>
      <p:sp>
        <p:nvSpPr>
          <p:cNvPr id="281" name="Google Shape;281;g1b8890723e1_0_50"/>
          <p:cNvSpPr txBox="1"/>
          <p:nvPr/>
        </p:nvSpPr>
        <p:spPr>
          <a:xfrm>
            <a:off x="1928794" y="6500834"/>
            <a:ext cx="5522884"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lt1"/>
                </a:solidFill>
                <a:latin typeface="Calibri"/>
                <a:ea typeface="Calibri"/>
                <a:cs typeface="Calibri"/>
                <a:sym typeface="Calibri"/>
              </a:rPr>
              <a:t>Department of Allied Computer Science &amp; Engineering</a:t>
            </a:r>
            <a:endParaRPr sz="1800" b="1" i="0" u="none" strike="noStrike" cap="none" dirty="0">
              <a:solidFill>
                <a:schemeClr val="lt1"/>
              </a:solidFill>
              <a:latin typeface="Calibri"/>
              <a:ea typeface="Calibri"/>
              <a:cs typeface="Calibri"/>
              <a:sym typeface="Calibri"/>
            </a:endParaRPr>
          </a:p>
        </p:txBody>
      </p:sp>
      <p:sp>
        <p:nvSpPr>
          <p:cNvPr id="282" name="Google Shape;282;g1b8890723e1_0_50"/>
          <p:cNvSpPr/>
          <p:nvPr/>
        </p:nvSpPr>
        <p:spPr>
          <a:xfrm>
            <a:off x="681135" y="1181687"/>
            <a:ext cx="8248500" cy="4653600"/>
          </a:xfrm>
          <a:prstGeom prst="rect">
            <a:avLst/>
          </a:prstGeom>
          <a:noFill/>
          <a:ln>
            <a:noFill/>
          </a:ln>
        </p:spPr>
        <p:txBody>
          <a:bodyPr spcFirstLastPara="1" wrap="square" lIns="91425" tIns="45700" rIns="91425" bIns="45700" anchor="t" anchorCtr="0">
            <a:noAutofit/>
          </a:bodyPr>
          <a:lstStyle/>
          <a:p>
            <a:pPr marL="457200" marR="0" lvl="0" indent="0" algn="just" rtl="0">
              <a:lnSpc>
                <a:spcPct val="150000"/>
              </a:lnSpc>
              <a:spcBef>
                <a:spcPts val="0"/>
              </a:spcBef>
              <a:spcAft>
                <a:spcPts val="0"/>
              </a:spcAft>
              <a:buClr>
                <a:srgbClr val="000000"/>
              </a:buClr>
              <a:buSzPts val="2000"/>
              <a:buFont typeface="Arial"/>
              <a:buNone/>
            </a:pPr>
            <a:endParaRPr sz="2000" b="1" i="0" u="none" strike="noStrike" cap="none">
              <a:solidFill>
                <a:schemeClr val="dk1"/>
              </a:solidFill>
              <a:latin typeface="Times New Roman"/>
              <a:ea typeface="Times New Roman"/>
              <a:cs typeface="Times New Roman"/>
              <a:sym typeface="Times New Roman"/>
            </a:endParaRPr>
          </a:p>
          <a:p>
            <a:pPr marL="457200" marR="0" lvl="0" indent="0" algn="just" rtl="0">
              <a:lnSpc>
                <a:spcPct val="150000"/>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50000"/>
              </a:lnSpc>
              <a:spcBef>
                <a:spcPts val="0"/>
              </a:spcBef>
              <a:spcAft>
                <a:spcPts val="0"/>
              </a:spcAft>
              <a:buClr>
                <a:srgbClr val="000000"/>
              </a:buClr>
              <a:buSzPts val="2000"/>
              <a:buFont typeface="Arial"/>
              <a:buNone/>
            </a:pPr>
            <a:endParaRPr sz="2000" b="1" i="0" u="none" strike="noStrike" cap="none">
              <a:solidFill>
                <a:schemeClr val="dk1"/>
              </a:solidFill>
              <a:latin typeface="Times New Roman"/>
              <a:ea typeface="Times New Roman"/>
              <a:cs typeface="Times New Roman"/>
              <a:sym typeface="Times New Roman"/>
            </a:endParaRPr>
          </a:p>
          <a:p>
            <a:pPr marL="457200" marR="0" lvl="0" indent="0" algn="just" rtl="0">
              <a:lnSpc>
                <a:spcPct val="15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1" name="Content Placeholder 16">
            <a:extLst>
              <a:ext uri="{FF2B5EF4-FFF2-40B4-BE49-F238E27FC236}">
                <a16:creationId xmlns:a16="http://schemas.microsoft.com/office/drawing/2014/main" id="{7D044029-78CA-8DEF-5257-A4348F02D457}"/>
              </a:ext>
            </a:extLst>
          </p:cNvPr>
          <p:cNvPicPr>
            <a:picLocks noChangeAspect="1"/>
          </p:cNvPicPr>
          <p:nvPr/>
        </p:nvPicPr>
        <p:blipFill rotWithShape="1">
          <a:blip r:embed="rId4"/>
          <a:srcRect l="18647" t="1184" r="18754" b="16573"/>
          <a:stretch/>
        </p:blipFill>
        <p:spPr>
          <a:xfrm>
            <a:off x="2514600" y="991554"/>
            <a:ext cx="4114800" cy="53035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g1e8b0b8a74a_0_5"/>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PROPOSED METHODOLOGY</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290" name="Google Shape;290;g1e8b0b8a74a_0_5"/>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91" name="Google Shape;291;g1e8b0b8a74a_0_5"/>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292" name="Google Shape;292;g1e8b0b8a74a_0_5"/>
          <p:cNvSpPr txBox="1">
            <a:spLocks noGrp="1"/>
          </p:cNvSpPr>
          <p:nvPr>
            <p:ph type="dt" idx="10"/>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06/04/2026</a:t>
            </a:r>
            <a:endParaRPr dirty="0"/>
          </a:p>
        </p:txBody>
      </p:sp>
      <p:sp>
        <p:nvSpPr>
          <p:cNvPr id="293" name="Google Shape;293;g1e8b0b8a74a_0_5"/>
          <p:cNvSpPr txBox="1">
            <a:spLocks noGrp="1"/>
          </p:cNvSpPr>
          <p:nvPr>
            <p:ph type="sldNum" idx="12"/>
          </p:nvPr>
        </p:nvSpPr>
        <p:spPr>
          <a:xfrm>
            <a:off x="6724680" y="6500822"/>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19</a:t>
            </a:fld>
            <a:endParaRPr sz="1800" b="1">
              <a:solidFill>
                <a:schemeClr val="lt1"/>
              </a:solidFill>
            </a:endParaRPr>
          </a:p>
        </p:txBody>
      </p:sp>
      <p:sp>
        <p:nvSpPr>
          <p:cNvPr id="294" name="Google Shape;294;g1e8b0b8a74a_0_5"/>
          <p:cNvSpPr txBox="1">
            <a:spLocks noGrp="1"/>
          </p:cNvSpPr>
          <p:nvPr>
            <p:ph type="ftr" idx="11"/>
          </p:nvPr>
        </p:nvSpPr>
        <p:spPr>
          <a:xfrm>
            <a:off x="2097575" y="6500825"/>
            <a:ext cx="5640706"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dirty="0">
                <a:solidFill>
                  <a:schemeClr val="lt1"/>
                </a:solidFill>
              </a:rPr>
              <a:t>     Department of Allied Computer Science &amp; Engineering</a:t>
            </a:r>
            <a:endParaRPr sz="1800" b="1" dirty="0">
              <a:solidFill>
                <a:schemeClr val="lt1"/>
              </a:solidFill>
            </a:endParaRPr>
          </a:p>
        </p:txBody>
      </p:sp>
      <p:sp>
        <p:nvSpPr>
          <p:cNvPr id="295" name="Google Shape;295;g1e8b0b8a74a_0_5"/>
          <p:cNvSpPr/>
          <p:nvPr/>
        </p:nvSpPr>
        <p:spPr>
          <a:xfrm>
            <a:off x="520505" y="857232"/>
            <a:ext cx="8337822" cy="5635537"/>
          </a:xfrm>
          <a:prstGeom prst="rect">
            <a:avLst/>
          </a:prstGeom>
          <a:noFill/>
          <a:ln>
            <a:noFill/>
          </a:ln>
        </p:spPr>
        <p:txBody>
          <a:bodyPr spcFirstLastPara="1" wrap="square" lIns="91425" tIns="45700" rIns="91425" bIns="45700" anchor="t" anchorCtr="0">
            <a:no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system is designed as a Deep Domain Navigator where knowledge is structured into hierarchical domains.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Users initiate exploration by selecting one or more domains such as history, architecture, space, medicine, or culture.</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An AI-based personalization engine analyzes user interactions, preferences, and navigation paths.</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Domain knowledge is modeled using semantic relationships and knowledge graphs.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 machine learning-based inference engine generates ranked, context-aware recommendations.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Accuracy is evaluated based on domain relevance prediction validated through user feedback and interaction logs.</a:t>
            </a:r>
            <a:endParaRPr lang="te-IN" sz="2000" dirty="0">
              <a:latin typeface="Times New Roman" panose="02020603050405020304" pitchFamily="18" charset="0"/>
            </a:endParaRPr>
          </a:p>
          <a:p>
            <a:pPr marL="342900" indent="-342900" algn="just">
              <a:lnSpc>
                <a:spcPct val="15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g1e8b0b8a74a_0_16"/>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PROPOSED METHODOLOGY</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02" name="Google Shape;302;g1e8b0b8a74a_0_16"/>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03" name="Google Shape;303;g1e8b0b8a74a_0_16"/>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304" name="Google Shape;304;g1e8b0b8a74a_0_16"/>
          <p:cNvSpPr txBox="1">
            <a:spLocks noGrp="1"/>
          </p:cNvSpPr>
          <p:nvPr>
            <p:ph type="dt" idx="10"/>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06/04/2026</a:t>
            </a:r>
            <a:endParaRPr dirty="0"/>
          </a:p>
        </p:txBody>
      </p:sp>
      <p:sp>
        <p:nvSpPr>
          <p:cNvPr id="305" name="Google Shape;305;g1e8b0b8a74a_0_16"/>
          <p:cNvSpPr txBox="1">
            <a:spLocks noGrp="1"/>
          </p:cNvSpPr>
          <p:nvPr>
            <p:ph type="sldNum" idx="12"/>
          </p:nvPr>
        </p:nvSpPr>
        <p:spPr>
          <a:xfrm>
            <a:off x="6724680" y="6500822"/>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20</a:t>
            </a:fld>
            <a:endParaRPr sz="1800" b="1">
              <a:solidFill>
                <a:schemeClr val="lt1"/>
              </a:solidFill>
            </a:endParaRPr>
          </a:p>
        </p:txBody>
      </p:sp>
      <p:sp>
        <p:nvSpPr>
          <p:cNvPr id="306" name="Google Shape;306;g1e8b0b8a74a_0_16"/>
          <p:cNvSpPr txBox="1">
            <a:spLocks noGrp="1"/>
          </p:cNvSpPr>
          <p:nvPr>
            <p:ph type="ftr" idx="11"/>
          </p:nvPr>
        </p:nvSpPr>
        <p:spPr>
          <a:xfrm>
            <a:off x="2097574" y="6500825"/>
            <a:ext cx="5695297"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dirty="0">
                <a:solidFill>
                  <a:schemeClr val="lt1"/>
                </a:solidFill>
              </a:rPr>
              <a:t>     Department of Allied Computer Science &amp; Engineering</a:t>
            </a:r>
            <a:endParaRPr sz="1800" b="1" dirty="0">
              <a:solidFill>
                <a:schemeClr val="lt1"/>
              </a:solidFill>
            </a:endParaRPr>
          </a:p>
        </p:txBody>
      </p:sp>
      <p:sp>
        <p:nvSpPr>
          <p:cNvPr id="307" name="Google Shape;307;g1e8b0b8a74a_0_16"/>
          <p:cNvSpPr/>
          <p:nvPr/>
        </p:nvSpPr>
        <p:spPr>
          <a:xfrm>
            <a:off x="491318" y="1237671"/>
            <a:ext cx="8438495" cy="4653600"/>
          </a:xfrm>
          <a:prstGeom prst="rect">
            <a:avLst/>
          </a:prstGeom>
          <a:noFill/>
          <a:ln>
            <a:noFill/>
          </a:ln>
        </p:spPr>
        <p:txBody>
          <a:bodyPr spcFirstLastPara="1" wrap="square" lIns="91425" tIns="45700" rIns="91425" bIns="45700" anchor="t" anchorCtr="0">
            <a:noAutofit/>
          </a:bodyPr>
          <a:lstStyle/>
          <a:p>
            <a:pPr marL="342900" indent="-342900" algn="just">
              <a:lnSpc>
                <a:spcPct val="150000"/>
              </a:lnSpc>
              <a:buFont typeface="Wingdings" panose="05000000000000000000" pitchFamily="2" charset="2"/>
              <a:buChar char="Ø"/>
            </a:pPr>
            <a:r>
              <a:rPr lang="en-IN" sz="25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system integrates academic papers, institutional datasets, and archival sources to ensure trustworthy content.</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User interests are represented as weighted domain profiles enabling multi-domain exploration.</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 knowledge graph–based hierarchy allows traversal across related domains using semantic links.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An ensemble-based personalization approach improves recommendation consistency and stability.</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All user interactions are logged and transformed into behavioral features for adaptive learning.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g1e8b0b8a74a_0_32"/>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PROPOSED METHODOLOGY</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26" name="Google Shape;326;g1e8b0b8a74a_0_32"/>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27" name="Google Shape;327;g1e8b0b8a74a_0_32"/>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328" name="Google Shape;328;g1e8b0b8a74a_0_32"/>
          <p:cNvSpPr txBox="1">
            <a:spLocks noGrp="1"/>
          </p:cNvSpPr>
          <p:nvPr>
            <p:ph type="dt" idx="10"/>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06/04/2026</a:t>
            </a:r>
            <a:endParaRPr dirty="0"/>
          </a:p>
        </p:txBody>
      </p:sp>
      <p:sp>
        <p:nvSpPr>
          <p:cNvPr id="329" name="Google Shape;329;g1e8b0b8a74a_0_32"/>
          <p:cNvSpPr txBox="1">
            <a:spLocks noGrp="1"/>
          </p:cNvSpPr>
          <p:nvPr>
            <p:ph type="sldNum" idx="12"/>
          </p:nvPr>
        </p:nvSpPr>
        <p:spPr>
          <a:xfrm>
            <a:off x="6724680" y="6500822"/>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21</a:t>
            </a:fld>
            <a:endParaRPr sz="1800" b="1">
              <a:solidFill>
                <a:schemeClr val="lt1"/>
              </a:solidFill>
            </a:endParaRPr>
          </a:p>
        </p:txBody>
      </p:sp>
      <p:sp>
        <p:nvSpPr>
          <p:cNvPr id="330" name="Google Shape;330;g1e8b0b8a74a_0_32"/>
          <p:cNvSpPr txBox="1">
            <a:spLocks noGrp="1"/>
          </p:cNvSpPr>
          <p:nvPr>
            <p:ph type="ftr" idx="11"/>
          </p:nvPr>
        </p:nvSpPr>
        <p:spPr>
          <a:xfrm>
            <a:off x="2097574" y="6500825"/>
            <a:ext cx="5586115"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dirty="0">
                <a:solidFill>
                  <a:schemeClr val="lt1"/>
                </a:solidFill>
              </a:rPr>
              <a:t>     Department of Allied Computer Science &amp; Engineering</a:t>
            </a:r>
            <a:endParaRPr sz="1800" b="1" dirty="0">
              <a:solidFill>
                <a:schemeClr val="lt1"/>
              </a:solidFill>
            </a:endParaRPr>
          </a:p>
        </p:txBody>
      </p:sp>
      <p:sp>
        <p:nvSpPr>
          <p:cNvPr id="331" name="Google Shape;331;g1e8b0b8a74a_0_32"/>
          <p:cNvSpPr/>
          <p:nvPr/>
        </p:nvSpPr>
        <p:spPr>
          <a:xfrm>
            <a:off x="709127" y="1237671"/>
            <a:ext cx="8149200" cy="4653600"/>
          </a:xfrm>
          <a:prstGeom prst="rect">
            <a:avLst/>
          </a:prstGeom>
          <a:noFill/>
          <a:ln>
            <a:noFill/>
          </a:ln>
        </p:spPr>
        <p:txBody>
          <a:bodyPr spcFirstLastPara="1" wrap="square" lIns="91425" tIns="45700" rIns="91425" bIns="45700" anchor="t" anchorCtr="0">
            <a:noAutofit/>
          </a:bodyPr>
          <a:lstStyle/>
          <a:p>
            <a:pPr marL="0" marR="630631" lvl="0" indent="0" algn="just" rtl="0">
              <a:lnSpc>
                <a:spcPct val="191624"/>
              </a:lnSpc>
              <a:spcBef>
                <a:spcPts val="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p:txBody>
      </p:sp>
      <p:pic>
        <p:nvPicPr>
          <p:cNvPr id="10" name="Picture 9" descr="A diagram of a process&#10;&#10;AI-generated content may be incorrect."/>
          <p:cNvPicPr/>
          <p:nvPr/>
        </p:nvPicPr>
        <p:blipFill>
          <a:blip r:embed="rId4" cstate="print">
            <a:extLst>
              <a:ext uri="{28A0092B-C50C-407E-A947-70E740481C1C}">
                <a14:useLocalDpi xmlns:a14="http://schemas.microsoft.com/office/drawing/2010/main" val="0"/>
              </a:ext>
            </a:extLst>
          </a:blip>
          <a:stretch>
            <a:fillRect/>
          </a:stretch>
        </p:blipFill>
        <p:spPr>
          <a:xfrm>
            <a:off x="2097574" y="1083212"/>
            <a:ext cx="5586115" cy="548100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g1fa6fd60b79_0_12"/>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0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ADVANTAGES OF PROPOSED METHODOLOGY</a:t>
            </a:r>
            <a:endParaRPr sz="30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14" name="Google Shape;314;g1fa6fd60b79_0_12"/>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15" name="Google Shape;315;g1fa6fd60b79_0_12"/>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316" name="Google Shape;316;g1fa6fd60b79_0_12"/>
          <p:cNvSpPr txBox="1">
            <a:spLocks noGrp="1"/>
          </p:cNvSpPr>
          <p:nvPr>
            <p:ph type="dt" idx="10"/>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06/04/2026</a:t>
            </a:r>
            <a:endParaRPr dirty="0"/>
          </a:p>
        </p:txBody>
      </p:sp>
      <p:sp>
        <p:nvSpPr>
          <p:cNvPr id="317" name="Google Shape;317;g1fa6fd60b79_0_12"/>
          <p:cNvSpPr txBox="1">
            <a:spLocks noGrp="1"/>
          </p:cNvSpPr>
          <p:nvPr>
            <p:ph type="sldNum" idx="12"/>
          </p:nvPr>
        </p:nvSpPr>
        <p:spPr>
          <a:xfrm>
            <a:off x="6724680" y="6500822"/>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22</a:t>
            </a:fld>
            <a:endParaRPr sz="1800" b="1">
              <a:solidFill>
                <a:schemeClr val="lt1"/>
              </a:solidFill>
            </a:endParaRPr>
          </a:p>
        </p:txBody>
      </p:sp>
      <p:sp>
        <p:nvSpPr>
          <p:cNvPr id="318" name="Google Shape;318;g1fa6fd60b79_0_12"/>
          <p:cNvSpPr txBox="1">
            <a:spLocks noGrp="1"/>
          </p:cNvSpPr>
          <p:nvPr>
            <p:ph type="ftr" idx="11"/>
          </p:nvPr>
        </p:nvSpPr>
        <p:spPr>
          <a:xfrm>
            <a:off x="2097574" y="6500825"/>
            <a:ext cx="5763535"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dirty="0">
                <a:solidFill>
                  <a:schemeClr val="lt1"/>
                </a:solidFill>
              </a:rPr>
              <a:t>     Department of Allied Computer Science &amp; Engineering</a:t>
            </a:r>
            <a:endParaRPr sz="1800" b="1" dirty="0">
              <a:solidFill>
                <a:schemeClr val="lt1"/>
              </a:solidFill>
            </a:endParaRPr>
          </a:p>
        </p:txBody>
      </p:sp>
      <p:sp>
        <p:nvSpPr>
          <p:cNvPr id="319" name="Google Shape;319;g1fa6fd60b79_0_12"/>
          <p:cNvSpPr/>
          <p:nvPr/>
        </p:nvSpPr>
        <p:spPr>
          <a:xfrm>
            <a:off x="709127" y="1237671"/>
            <a:ext cx="8149200" cy="4653600"/>
          </a:xfrm>
          <a:prstGeom prst="rect">
            <a:avLst/>
          </a:prstGeom>
          <a:noFill/>
          <a:ln>
            <a:noFill/>
          </a:ln>
        </p:spPr>
        <p:txBody>
          <a:bodyPr spcFirstLastPara="1" wrap="square" lIns="91425" tIns="45700" rIns="91425" bIns="45700" anchor="t" anchorCtr="0">
            <a:noAutofit/>
          </a:bodyPr>
          <a:lstStyle/>
          <a:p>
            <a:pPr marL="444500" marR="630631" lvl="0" indent="-342900" algn="just">
              <a:lnSpc>
                <a:spcPct val="150000"/>
              </a:lnSpc>
              <a:buClr>
                <a:schemeClr val="dk1"/>
              </a:buClr>
              <a:buSzPts val="2000"/>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Step-by-step clarity: The methodology ensures systematic development with minimal ambiguity.</a:t>
            </a:r>
          </a:p>
          <a:p>
            <a:pPr marL="444500" marR="630631" lvl="0" indent="-342900" algn="just">
              <a:lnSpc>
                <a:spcPct val="150000"/>
              </a:lnSpc>
              <a:buClr>
                <a:schemeClr val="dk1"/>
              </a:buClr>
              <a:buSzPts val="2000"/>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Scalability: Modular architecture allows easy expansion for more categories and sectors.</a:t>
            </a:r>
          </a:p>
          <a:p>
            <a:pPr marL="444500" marR="630631" lvl="0" indent="-342900" algn="just">
              <a:lnSpc>
                <a:spcPct val="150000"/>
              </a:lnSpc>
              <a:buClr>
                <a:schemeClr val="dk1"/>
              </a:buClr>
              <a:buSzPts val="2000"/>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User-Centric Design: Focus on personalization improves adoption and satisfaction.</a:t>
            </a:r>
          </a:p>
          <a:p>
            <a:pPr marL="444500" marR="630631" lvl="0" indent="-342900" algn="just">
              <a:lnSpc>
                <a:spcPct val="150000"/>
              </a:lnSpc>
              <a:buClr>
                <a:schemeClr val="dk1"/>
              </a:buClr>
              <a:buSzPts val="2000"/>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Research-Driven: Provides structured insights beneficial for researchers and scholars in diverse sectors.</a:t>
            </a:r>
          </a:p>
          <a:p>
            <a:pPr marL="444500" marR="630631" lvl="0" indent="-342900" algn="just">
              <a:lnSpc>
                <a:spcPct val="150000"/>
              </a:lnSpc>
              <a:buClr>
                <a:schemeClr val="dk1"/>
              </a:buClr>
              <a:buSzPts val="2000"/>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Flexibility: AI chatbot integration allows seamless upgrades with advanced APIs.</a:t>
            </a:r>
          </a:p>
          <a:p>
            <a:pPr marL="444500" marR="630631" lvl="0" indent="-342900" algn="just">
              <a:lnSpc>
                <a:spcPct val="150000"/>
              </a:lnSpc>
              <a:buClr>
                <a:schemeClr val="dk1"/>
              </a:buClr>
              <a:buSzPts val="2000"/>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 Reliability: Testing at every stage ensures robustness and reduces system failures.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g1b8890723e1_0_61"/>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a:buNone/>
            </a:pPr>
            <a:r>
              <a:rPr lang="en-US" sz="36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CONCLUSION</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38" name="Google Shape;338;g1b8890723e1_0_61"/>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39" name="Google Shape;339;g1b8890723e1_0_61"/>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340" name="Google Shape;340;g1b8890723e1_0_61"/>
          <p:cNvSpPr txBox="1"/>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1" dirty="0">
                <a:solidFill>
                  <a:schemeClr val="lt1"/>
                </a:solidFill>
                <a:latin typeface="Calibri"/>
                <a:ea typeface="Calibri"/>
                <a:cs typeface="Calibri"/>
                <a:sym typeface="Calibri"/>
              </a:rPr>
              <a:t>06</a:t>
            </a:r>
            <a:r>
              <a:rPr lang="en-US" sz="1800" b="1" i="0" u="none" strike="noStrike" cap="none" dirty="0">
                <a:solidFill>
                  <a:schemeClr val="lt1"/>
                </a:solidFill>
                <a:latin typeface="Calibri"/>
                <a:ea typeface="Calibri"/>
                <a:cs typeface="Calibri"/>
                <a:sym typeface="Calibri"/>
              </a:rPr>
              <a:t>/04/2026</a:t>
            </a:r>
            <a:endParaRPr sz="1400" b="0" i="0" u="none" strike="noStrike" cap="none" dirty="0">
              <a:solidFill>
                <a:srgbClr val="000000"/>
              </a:solidFill>
              <a:latin typeface="Arial"/>
              <a:ea typeface="Arial"/>
              <a:cs typeface="Arial"/>
              <a:sym typeface="Arial"/>
            </a:endParaRPr>
          </a:p>
        </p:txBody>
      </p:sp>
      <p:sp>
        <p:nvSpPr>
          <p:cNvPr id="341" name="Google Shape;341;g1b8890723e1_0_61"/>
          <p:cNvSpPr txBox="1"/>
          <p:nvPr/>
        </p:nvSpPr>
        <p:spPr>
          <a:xfrm>
            <a:off x="6724680" y="6500834"/>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1" i="0" u="none" strike="noStrike" cap="none">
                <a:solidFill>
                  <a:schemeClr val="lt1"/>
                </a:solidFill>
                <a:latin typeface="Calibri"/>
                <a:ea typeface="Calibri"/>
                <a:cs typeface="Calibri"/>
                <a:sym typeface="Calibri"/>
              </a:rPr>
              <a:t>23</a:t>
            </a:fld>
            <a:endParaRPr sz="1800" b="1" i="0" u="none" strike="noStrike" cap="none">
              <a:solidFill>
                <a:schemeClr val="lt1"/>
              </a:solidFill>
              <a:latin typeface="Calibri"/>
              <a:ea typeface="Calibri"/>
              <a:cs typeface="Calibri"/>
              <a:sym typeface="Calibri"/>
            </a:endParaRPr>
          </a:p>
        </p:txBody>
      </p:sp>
      <p:sp>
        <p:nvSpPr>
          <p:cNvPr id="342" name="Google Shape;342;g1b8890723e1_0_61"/>
          <p:cNvSpPr txBox="1"/>
          <p:nvPr/>
        </p:nvSpPr>
        <p:spPr>
          <a:xfrm>
            <a:off x="1928793" y="6500834"/>
            <a:ext cx="5427349"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lt1"/>
                </a:solidFill>
                <a:latin typeface="Calibri"/>
                <a:ea typeface="Calibri"/>
                <a:cs typeface="Calibri"/>
                <a:sym typeface="Calibri"/>
              </a:rPr>
              <a:t>Department of Allied Computer Science &amp; Engineering</a:t>
            </a:r>
            <a:endParaRPr sz="1800" b="1" i="0" u="none" strike="noStrike" cap="none" dirty="0">
              <a:solidFill>
                <a:schemeClr val="lt1"/>
              </a:solidFill>
              <a:latin typeface="Calibri"/>
              <a:ea typeface="Calibri"/>
              <a:cs typeface="Calibri"/>
              <a:sym typeface="Calibri"/>
            </a:endParaRPr>
          </a:p>
        </p:txBody>
      </p:sp>
      <p:sp>
        <p:nvSpPr>
          <p:cNvPr id="343" name="Google Shape;343;g1b8890723e1_0_61"/>
          <p:cNvSpPr/>
          <p:nvPr/>
        </p:nvSpPr>
        <p:spPr>
          <a:xfrm>
            <a:off x="681125" y="1181675"/>
            <a:ext cx="8057100" cy="4653600"/>
          </a:xfrm>
          <a:prstGeom prst="rect">
            <a:avLst/>
          </a:prstGeom>
          <a:noFill/>
          <a:ln>
            <a:noFill/>
          </a:ln>
        </p:spPr>
        <p:txBody>
          <a:bodyPr spcFirstLastPara="1" wrap="square" lIns="91425" tIns="45700" rIns="91425" bIns="45700" anchor="t" anchorCtr="0">
            <a:no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AI-Driven Deep Domain Navigator successfully transforms digital exploration into a knowledge-driven process.</a:t>
            </a:r>
          </a:p>
          <a:p>
            <a:pPr marL="342900" indent="-342900" algn="just">
              <a:lnSpc>
                <a:spcPct val="150000"/>
              </a:lnSpc>
              <a:buFont typeface="Wingdings" panose="05000000000000000000" pitchFamily="2" charset="2"/>
              <a:buChar char="Ø"/>
            </a:pPr>
            <a:r>
              <a:rPr lang="te-IN" altLang="te-IN" sz="2000" dirty="0">
                <a:latin typeface="Times New Roman" panose="02020603050405020304" pitchFamily="18" charset="0"/>
              </a:rPr>
              <a:t>The system integrates AI personalization, domain intelligence, and academic resources into a single platform.</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shifts exploration from popularity-driven tourism to deep, contextual learning and research.</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platform supports education, cultural preservation, research, and policy planning.</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proposed system offers a scalable and transparent framework for future AI-based knowledge navigation systems.</a:t>
            </a:r>
            <a:endParaRPr lang="te-IN" sz="2000" dirty="0">
              <a:latin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g1b8890723e1_0_61"/>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a:buNone/>
            </a:pPr>
            <a:r>
              <a:rPr lang="en-US" sz="3600" b="1" dirty="0">
                <a:solidFill>
                  <a:schemeClr val="lt1"/>
                </a:solidFill>
                <a:latin typeface="Times New Roman" panose="02020603050405020304" pitchFamily="18" charset="0"/>
                <a:ea typeface="Calibri"/>
                <a:cs typeface="Times New Roman" panose="02020603050405020304" pitchFamily="18" charset="0"/>
                <a:sym typeface="Calibri"/>
              </a:rPr>
              <a:t>RESULTS</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38" name="Google Shape;338;g1b8890723e1_0_61"/>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39" name="Google Shape;339;g1b8890723e1_0_61"/>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340" name="Google Shape;340;g1b8890723e1_0_61"/>
          <p:cNvSpPr txBox="1"/>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1" dirty="0">
                <a:solidFill>
                  <a:schemeClr val="lt1"/>
                </a:solidFill>
                <a:latin typeface="Calibri"/>
                <a:ea typeface="Calibri"/>
                <a:cs typeface="Calibri"/>
                <a:sym typeface="Calibri"/>
              </a:rPr>
              <a:t>06</a:t>
            </a:r>
            <a:r>
              <a:rPr lang="en-US" sz="1800" b="1" i="0" u="none" strike="noStrike" cap="none" dirty="0">
                <a:solidFill>
                  <a:schemeClr val="lt1"/>
                </a:solidFill>
                <a:latin typeface="Calibri"/>
                <a:ea typeface="Calibri"/>
                <a:cs typeface="Calibri"/>
                <a:sym typeface="Calibri"/>
              </a:rPr>
              <a:t>/04/2026</a:t>
            </a:r>
            <a:endParaRPr sz="1400" b="0" i="0" u="none" strike="noStrike" cap="none" dirty="0">
              <a:solidFill>
                <a:srgbClr val="000000"/>
              </a:solidFill>
              <a:latin typeface="Arial"/>
              <a:ea typeface="Arial"/>
              <a:cs typeface="Arial"/>
              <a:sym typeface="Arial"/>
            </a:endParaRPr>
          </a:p>
        </p:txBody>
      </p:sp>
      <p:sp>
        <p:nvSpPr>
          <p:cNvPr id="341" name="Google Shape;341;g1b8890723e1_0_61"/>
          <p:cNvSpPr txBox="1"/>
          <p:nvPr/>
        </p:nvSpPr>
        <p:spPr>
          <a:xfrm>
            <a:off x="6724680" y="6500834"/>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1" i="0" u="none" strike="noStrike" cap="none">
                <a:solidFill>
                  <a:schemeClr val="lt1"/>
                </a:solidFill>
                <a:latin typeface="Calibri"/>
                <a:ea typeface="Calibri"/>
                <a:cs typeface="Calibri"/>
                <a:sym typeface="Calibri"/>
              </a:rPr>
              <a:t>24</a:t>
            </a:fld>
            <a:endParaRPr sz="1800" b="1" i="0" u="none" strike="noStrike" cap="none">
              <a:solidFill>
                <a:schemeClr val="lt1"/>
              </a:solidFill>
              <a:latin typeface="Calibri"/>
              <a:ea typeface="Calibri"/>
              <a:cs typeface="Calibri"/>
              <a:sym typeface="Calibri"/>
            </a:endParaRPr>
          </a:p>
        </p:txBody>
      </p:sp>
      <p:sp>
        <p:nvSpPr>
          <p:cNvPr id="342" name="Google Shape;342;g1b8890723e1_0_61"/>
          <p:cNvSpPr txBox="1"/>
          <p:nvPr/>
        </p:nvSpPr>
        <p:spPr>
          <a:xfrm>
            <a:off x="1928793" y="6500834"/>
            <a:ext cx="5427349"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lt1"/>
                </a:solidFill>
                <a:latin typeface="Calibri"/>
                <a:ea typeface="Calibri"/>
                <a:cs typeface="Calibri"/>
                <a:sym typeface="Calibri"/>
              </a:rPr>
              <a:t>Department of Allied Computer Science &amp; Engineering</a:t>
            </a:r>
            <a:endParaRPr sz="1800" b="1" i="0" u="none" strike="noStrike" cap="none" dirty="0">
              <a:solidFill>
                <a:schemeClr val="lt1"/>
              </a:solidFill>
              <a:latin typeface="Calibri"/>
              <a:ea typeface="Calibri"/>
              <a:cs typeface="Calibri"/>
              <a:sym typeface="Calibri"/>
            </a:endParaRPr>
          </a:p>
        </p:txBody>
      </p:sp>
      <p:sp>
        <p:nvSpPr>
          <p:cNvPr id="343" name="Google Shape;343;g1b8890723e1_0_61"/>
          <p:cNvSpPr/>
          <p:nvPr/>
        </p:nvSpPr>
        <p:spPr>
          <a:xfrm>
            <a:off x="478302" y="928669"/>
            <a:ext cx="8259923" cy="4906605"/>
          </a:xfrm>
          <a:prstGeom prst="rect">
            <a:avLst/>
          </a:prstGeom>
          <a:noFill/>
          <a:ln>
            <a:noFill/>
          </a:ln>
        </p:spPr>
        <p:txBody>
          <a:bodyPr spcFirstLastPara="1" wrap="square" lIns="91425" tIns="45700" rIns="91425" bIns="45700" anchor="t" anchorCtr="0">
            <a:noAutofit/>
          </a:bodyPr>
          <a:lstStyle/>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system demonstrated high consistency in predicting user-relevant domains.</a:t>
            </a:r>
          </a:p>
          <a:p>
            <a:pPr marL="457200" indent="-4572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proposed Ensemble Exploration Intelligence model achieved an accuracy of 96.52%.</a:t>
            </a:r>
          </a:p>
          <a:p>
            <a:pPr marL="457200" indent="-4572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Performance surpassed traditional travel recommender systems and single-domain heritage platforms.</a:t>
            </a:r>
          </a:p>
          <a:p>
            <a:pPr marL="457200" indent="-4572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Results confirm the effectiveness of AI-driven personalization and domain-centric navigation.</a:t>
            </a:r>
          </a:p>
          <a:p>
            <a:pPr marL="457200" indent="-4572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system supports interdisciplinary exploration and reduces dependency on keyword-based searches.</a:t>
            </a:r>
            <a:endParaRPr lang="te-IN" sz="2000" dirty="0">
              <a:latin typeface="Times New Roman" panose="02020603050405020304" pitchFamily="18" charset="0"/>
            </a:endParaRPr>
          </a:p>
          <a:p>
            <a:endParaRPr lang="en-IN" sz="25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90298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g1b8890723e1_0_61"/>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a:buNone/>
            </a:pPr>
            <a:r>
              <a:rPr lang="en-US" sz="3600" b="1" dirty="0">
                <a:solidFill>
                  <a:schemeClr val="lt1"/>
                </a:solidFill>
                <a:latin typeface="Times New Roman" panose="02020603050405020304" pitchFamily="18" charset="0"/>
                <a:ea typeface="Calibri"/>
                <a:cs typeface="Times New Roman" panose="02020603050405020304" pitchFamily="18" charset="0"/>
                <a:sym typeface="Calibri"/>
              </a:rPr>
              <a:t>RESULTS</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38" name="Google Shape;338;g1b8890723e1_0_61"/>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39" name="Google Shape;339;g1b8890723e1_0_61"/>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340" name="Google Shape;340;g1b8890723e1_0_61"/>
          <p:cNvSpPr txBox="1"/>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1" dirty="0">
                <a:solidFill>
                  <a:schemeClr val="lt1"/>
                </a:solidFill>
                <a:latin typeface="Calibri"/>
                <a:ea typeface="Calibri"/>
                <a:cs typeface="Calibri"/>
                <a:sym typeface="Calibri"/>
              </a:rPr>
              <a:t>06</a:t>
            </a:r>
            <a:r>
              <a:rPr lang="en-US" sz="1800" b="1" i="0" u="none" strike="noStrike" cap="none" dirty="0">
                <a:solidFill>
                  <a:schemeClr val="lt1"/>
                </a:solidFill>
                <a:latin typeface="Calibri"/>
                <a:ea typeface="Calibri"/>
                <a:cs typeface="Calibri"/>
                <a:sym typeface="Calibri"/>
              </a:rPr>
              <a:t>/04/2026</a:t>
            </a:r>
            <a:endParaRPr sz="1400" b="0" i="0" u="none" strike="noStrike" cap="none" dirty="0">
              <a:solidFill>
                <a:srgbClr val="000000"/>
              </a:solidFill>
              <a:latin typeface="Arial"/>
              <a:ea typeface="Arial"/>
              <a:cs typeface="Arial"/>
              <a:sym typeface="Arial"/>
            </a:endParaRPr>
          </a:p>
        </p:txBody>
      </p:sp>
      <p:sp>
        <p:nvSpPr>
          <p:cNvPr id="341" name="Google Shape;341;g1b8890723e1_0_61"/>
          <p:cNvSpPr txBox="1"/>
          <p:nvPr/>
        </p:nvSpPr>
        <p:spPr>
          <a:xfrm>
            <a:off x="6724680" y="6500834"/>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1" i="0" u="none" strike="noStrike" cap="none">
                <a:solidFill>
                  <a:schemeClr val="lt1"/>
                </a:solidFill>
                <a:latin typeface="Calibri"/>
                <a:ea typeface="Calibri"/>
                <a:cs typeface="Calibri"/>
                <a:sym typeface="Calibri"/>
              </a:rPr>
              <a:t>25</a:t>
            </a:fld>
            <a:endParaRPr sz="1800" b="1" i="0" u="none" strike="noStrike" cap="none">
              <a:solidFill>
                <a:schemeClr val="lt1"/>
              </a:solidFill>
              <a:latin typeface="Calibri"/>
              <a:ea typeface="Calibri"/>
              <a:cs typeface="Calibri"/>
              <a:sym typeface="Calibri"/>
            </a:endParaRPr>
          </a:p>
        </p:txBody>
      </p:sp>
      <p:sp>
        <p:nvSpPr>
          <p:cNvPr id="342" name="Google Shape;342;g1b8890723e1_0_61"/>
          <p:cNvSpPr txBox="1"/>
          <p:nvPr/>
        </p:nvSpPr>
        <p:spPr>
          <a:xfrm>
            <a:off x="1928793" y="6500834"/>
            <a:ext cx="5427349"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lt1"/>
                </a:solidFill>
                <a:latin typeface="Calibri"/>
                <a:ea typeface="Calibri"/>
                <a:cs typeface="Calibri"/>
                <a:sym typeface="Calibri"/>
              </a:rPr>
              <a:t>Department of Allied Computer Science &amp; Engineering</a:t>
            </a:r>
            <a:endParaRPr sz="1800" b="1" i="0" u="none" strike="noStrike" cap="none" dirty="0">
              <a:solidFill>
                <a:schemeClr val="lt1"/>
              </a:solidFill>
              <a:latin typeface="Calibri"/>
              <a:ea typeface="Calibri"/>
              <a:cs typeface="Calibri"/>
              <a:sym typeface="Calibri"/>
            </a:endParaRPr>
          </a:p>
        </p:txBody>
      </p:sp>
      <p:sp>
        <p:nvSpPr>
          <p:cNvPr id="343" name="Google Shape;343;g1b8890723e1_0_61"/>
          <p:cNvSpPr/>
          <p:nvPr/>
        </p:nvSpPr>
        <p:spPr>
          <a:xfrm>
            <a:off x="478302" y="928669"/>
            <a:ext cx="8259923" cy="4906605"/>
          </a:xfrm>
          <a:prstGeom prst="rect">
            <a:avLst/>
          </a:prstGeom>
          <a:noFill/>
          <a:ln>
            <a:noFill/>
          </a:ln>
        </p:spPr>
        <p:txBody>
          <a:bodyPr spcFirstLastPara="1" wrap="square" lIns="91425" tIns="45700" rIns="91425" bIns="45700" anchor="t" anchorCtr="0">
            <a:noAutofit/>
          </a:bodyPr>
          <a:lstStyle/>
          <a:p>
            <a:endParaRPr lang="en-IN" sz="2500" b="1" dirty="0">
              <a:latin typeface="Times New Roman" panose="02020603050405020304" pitchFamily="18" charset="0"/>
              <a:cs typeface="Times New Roman" panose="02020603050405020304" pitchFamily="18" charset="0"/>
            </a:endParaRPr>
          </a:p>
        </p:txBody>
      </p:sp>
      <p:pic>
        <p:nvPicPr>
          <p:cNvPr id="10" name="Content Placeholder 4">
            <a:extLst>
              <a:ext uri="{FF2B5EF4-FFF2-40B4-BE49-F238E27FC236}">
                <a16:creationId xmlns:a16="http://schemas.microsoft.com/office/drawing/2014/main" id="{C40CBE2B-5361-E11E-1CCC-8457774D587F}"/>
              </a:ext>
            </a:extLst>
          </p:cNvPr>
          <p:cNvPicPr>
            <a:picLocks noChangeAspect="1"/>
          </p:cNvPicPr>
          <p:nvPr/>
        </p:nvPicPr>
        <p:blipFill>
          <a:blip r:embed="rId4">
            <a:extLst>
              <a:ext uri="{28A0092B-C50C-407E-A947-70E740481C1C}">
                <a14:useLocalDpi xmlns:a14="http://schemas.microsoft.com/office/drawing/2010/main" val="0"/>
              </a:ext>
            </a:extLst>
          </a:blip>
          <a:srcRect l="34522" t="24232" r="34512" b="13652"/>
          <a:stretch>
            <a:fillRect/>
          </a:stretch>
        </p:blipFill>
        <p:spPr>
          <a:xfrm>
            <a:off x="2127866" y="1091661"/>
            <a:ext cx="5029201" cy="5040674"/>
          </a:xfrm>
          <a:prstGeom prst="rect">
            <a:avLst/>
          </a:prstGeom>
        </p:spPr>
      </p:pic>
    </p:spTree>
    <p:extLst>
      <p:ext uri="{BB962C8B-B14F-4D97-AF65-F5344CB8AC3E}">
        <p14:creationId xmlns:p14="http://schemas.microsoft.com/office/powerpoint/2010/main" val="17211507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g1b8890723e1_0_61"/>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a:buNone/>
            </a:pPr>
            <a:r>
              <a:rPr lang="en-US" sz="3600" b="1" dirty="0">
                <a:solidFill>
                  <a:schemeClr val="lt1"/>
                </a:solidFill>
                <a:latin typeface="Times New Roman" panose="02020603050405020304" pitchFamily="18" charset="0"/>
                <a:ea typeface="Calibri"/>
                <a:cs typeface="Times New Roman" panose="02020603050405020304" pitchFamily="18" charset="0"/>
                <a:sym typeface="Calibri"/>
              </a:rPr>
              <a:t>RESULTS</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38" name="Google Shape;338;g1b8890723e1_0_61"/>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39" name="Google Shape;339;g1b8890723e1_0_61"/>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340" name="Google Shape;340;g1b8890723e1_0_61"/>
          <p:cNvSpPr txBox="1"/>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1" dirty="0">
                <a:solidFill>
                  <a:schemeClr val="lt1"/>
                </a:solidFill>
                <a:latin typeface="Calibri"/>
                <a:ea typeface="Calibri"/>
                <a:cs typeface="Calibri"/>
                <a:sym typeface="Calibri"/>
              </a:rPr>
              <a:t>06</a:t>
            </a:r>
            <a:r>
              <a:rPr lang="en-US" sz="1800" b="1" i="0" u="none" strike="noStrike" cap="none" dirty="0">
                <a:solidFill>
                  <a:schemeClr val="lt1"/>
                </a:solidFill>
                <a:latin typeface="Calibri"/>
                <a:ea typeface="Calibri"/>
                <a:cs typeface="Calibri"/>
                <a:sym typeface="Calibri"/>
              </a:rPr>
              <a:t>/04/2026</a:t>
            </a:r>
            <a:endParaRPr sz="1400" b="0" i="0" u="none" strike="noStrike" cap="none" dirty="0">
              <a:solidFill>
                <a:srgbClr val="000000"/>
              </a:solidFill>
              <a:latin typeface="Arial"/>
              <a:ea typeface="Arial"/>
              <a:cs typeface="Arial"/>
              <a:sym typeface="Arial"/>
            </a:endParaRPr>
          </a:p>
        </p:txBody>
      </p:sp>
      <p:sp>
        <p:nvSpPr>
          <p:cNvPr id="341" name="Google Shape;341;g1b8890723e1_0_61"/>
          <p:cNvSpPr txBox="1"/>
          <p:nvPr/>
        </p:nvSpPr>
        <p:spPr>
          <a:xfrm>
            <a:off x="6724680" y="6500834"/>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1" i="0" u="none" strike="noStrike" cap="none">
                <a:solidFill>
                  <a:schemeClr val="lt1"/>
                </a:solidFill>
                <a:latin typeface="Calibri"/>
                <a:ea typeface="Calibri"/>
                <a:cs typeface="Calibri"/>
                <a:sym typeface="Calibri"/>
              </a:rPr>
              <a:t>26</a:t>
            </a:fld>
            <a:endParaRPr sz="1800" b="1" i="0" u="none" strike="noStrike" cap="none">
              <a:solidFill>
                <a:schemeClr val="lt1"/>
              </a:solidFill>
              <a:latin typeface="Calibri"/>
              <a:ea typeface="Calibri"/>
              <a:cs typeface="Calibri"/>
              <a:sym typeface="Calibri"/>
            </a:endParaRPr>
          </a:p>
        </p:txBody>
      </p:sp>
      <p:sp>
        <p:nvSpPr>
          <p:cNvPr id="342" name="Google Shape;342;g1b8890723e1_0_61"/>
          <p:cNvSpPr txBox="1"/>
          <p:nvPr/>
        </p:nvSpPr>
        <p:spPr>
          <a:xfrm>
            <a:off x="1928793" y="6500834"/>
            <a:ext cx="5427349"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lt1"/>
                </a:solidFill>
                <a:latin typeface="Calibri"/>
                <a:ea typeface="Calibri"/>
                <a:cs typeface="Calibri"/>
                <a:sym typeface="Calibri"/>
              </a:rPr>
              <a:t>Department of Allied Computer Science &amp; Engineering</a:t>
            </a:r>
            <a:endParaRPr sz="1800" b="1" i="0" u="none" strike="noStrike" cap="none" dirty="0">
              <a:solidFill>
                <a:schemeClr val="lt1"/>
              </a:solidFill>
              <a:latin typeface="Calibri"/>
              <a:ea typeface="Calibri"/>
              <a:cs typeface="Calibri"/>
              <a:sym typeface="Calibri"/>
            </a:endParaRPr>
          </a:p>
        </p:txBody>
      </p:sp>
      <p:sp>
        <p:nvSpPr>
          <p:cNvPr id="343" name="Google Shape;343;g1b8890723e1_0_61"/>
          <p:cNvSpPr/>
          <p:nvPr/>
        </p:nvSpPr>
        <p:spPr>
          <a:xfrm>
            <a:off x="478302" y="928669"/>
            <a:ext cx="8259923" cy="4906605"/>
          </a:xfrm>
          <a:prstGeom prst="rect">
            <a:avLst/>
          </a:prstGeom>
          <a:noFill/>
          <a:ln>
            <a:noFill/>
          </a:ln>
        </p:spPr>
        <p:txBody>
          <a:bodyPr spcFirstLastPara="1" wrap="square" lIns="91425" tIns="45700" rIns="91425" bIns="45700" anchor="t" anchorCtr="0">
            <a:noAutofit/>
          </a:bodyPr>
          <a:lstStyle/>
          <a:p>
            <a:endParaRPr lang="en-IN" sz="2500" b="1" dirty="0">
              <a:latin typeface="Times New Roman" panose="02020603050405020304" pitchFamily="18" charset="0"/>
              <a:cs typeface="Times New Roman" panose="02020603050405020304" pitchFamily="18" charset="0"/>
            </a:endParaRPr>
          </a:p>
        </p:txBody>
      </p:sp>
      <p:pic>
        <p:nvPicPr>
          <p:cNvPr id="9" name="Content Placeholder 4">
            <a:extLst>
              <a:ext uri="{FF2B5EF4-FFF2-40B4-BE49-F238E27FC236}">
                <a16:creationId xmlns:a16="http://schemas.microsoft.com/office/drawing/2014/main" id="{436DB5CD-5C33-2A8E-7DC5-17AB7F9B2EAF}"/>
              </a:ext>
            </a:extLst>
          </p:cNvPr>
          <p:cNvPicPr>
            <a:picLocks noChangeAspect="1"/>
          </p:cNvPicPr>
          <p:nvPr/>
        </p:nvPicPr>
        <p:blipFill>
          <a:blip r:embed="rId4">
            <a:extLst>
              <a:ext uri="{28A0092B-C50C-407E-A947-70E740481C1C}">
                <a14:useLocalDpi xmlns:a14="http://schemas.microsoft.com/office/drawing/2010/main" val="0"/>
              </a:ext>
            </a:extLst>
          </a:blip>
          <a:srcRect l="11922" t="890" r="395" b="-890"/>
          <a:stretch>
            <a:fillRect/>
          </a:stretch>
        </p:blipFill>
        <p:spPr>
          <a:xfrm>
            <a:off x="201537" y="956431"/>
            <a:ext cx="8728277" cy="5373767"/>
          </a:xfrm>
          <a:prstGeom prst="rect">
            <a:avLst/>
          </a:prstGeom>
        </p:spPr>
      </p:pic>
    </p:spTree>
    <p:extLst>
      <p:ext uri="{BB962C8B-B14F-4D97-AF65-F5344CB8AC3E}">
        <p14:creationId xmlns:p14="http://schemas.microsoft.com/office/powerpoint/2010/main" val="30938296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g1c0653c3a5e_0_0"/>
          <p:cNvSpPr/>
          <p:nvPr/>
        </p:nvSpPr>
        <p:spPr>
          <a:xfrm>
            <a:off x="1214414" y="14840"/>
            <a:ext cx="7715400" cy="842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Arial"/>
              <a:buNone/>
            </a:pPr>
            <a:r>
              <a:rPr lang="en-US" sz="3600" b="1" i="0" u="none" strike="noStrike" cap="none" dirty="0">
                <a:solidFill>
                  <a:schemeClr val="lt1"/>
                </a:solidFill>
                <a:latin typeface="Times New Roman" panose="02020603050405020304" pitchFamily="18" charset="0"/>
                <a:ea typeface="Calibri"/>
                <a:cs typeface="Times New Roman" panose="02020603050405020304" pitchFamily="18" charset="0"/>
                <a:sym typeface="Calibri"/>
              </a:rPr>
              <a:t>REFERENCES</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49" name="Google Shape;349;g1c0653c3a5e_0_0"/>
          <p:cNvSpPr/>
          <p:nvPr/>
        </p:nvSpPr>
        <p:spPr>
          <a:xfrm>
            <a:off x="0" y="6572272"/>
            <a:ext cx="9144000" cy="285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50" name="Google Shape;350;g1c0653c3a5e_0_0"/>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351" name="Google Shape;351;g1c0653c3a5e_0_0"/>
          <p:cNvSpPr txBox="1"/>
          <p:nvPr/>
        </p:nvSpPr>
        <p:spPr>
          <a:xfrm>
            <a:off x="142844" y="6572272"/>
            <a:ext cx="2133600" cy="292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1" dirty="0">
                <a:solidFill>
                  <a:schemeClr val="lt1"/>
                </a:solidFill>
                <a:latin typeface="Calibri"/>
                <a:ea typeface="Calibri"/>
                <a:cs typeface="Calibri"/>
                <a:sym typeface="Calibri"/>
              </a:rPr>
              <a:t>06</a:t>
            </a:r>
            <a:r>
              <a:rPr lang="en-US" sz="1800" b="1" i="0" u="none" strike="noStrike" cap="none" dirty="0">
                <a:solidFill>
                  <a:schemeClr val="lt1"/>
                </a:solidFill>
                <a:latin typeface="Calibri"/>
                <a:ea typeface="Calibri"/>
                <a:cs typeface="Calibri"/>
                <a:sym typeface="Calibri"/>
              </a:rPr>
              <a:t>/04/2026</a:t>
            </a:r>
            <a:endParaRPr sz="1400" b="0" i="0" u="none" strike="noStrike" cap="none" dirty="0">
              <a:solidFill>
                <a:srgbClr val="000000"/>
              </a:solidFill>
              <a:latin typeface="Arial"/>
              <a:ea typeface="Arial"/>
              <a:cs typeface="Arial"/>
              <a:sym typeface="Arial"/>
            </a:endParaRPr>
          </a:p>
        </p:txBody>
      </p:sp>
      <p:sp>
        <p:nvSpPr>
          <p:cNvPr id="352" name="Google Shape;352;g1c0653c3a5e_0_0"/>
          <p:cNvSpPr txBox="1"/>
          <p:nvPr/>
        </p:nvSpPr>
        <p:spPr>
          <a:xfrm>
            <a:off x="6724680" y="6500834"/>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n-US" sz="1800" b="1" i="0" u="none" strike="noStrike" cap="none">
                <a:solidFill>
                  <a:schemeClr val="lt1"/>
                </a:solidFill>
                <a:latin typeface="Calibri"/>
                <a:ea typeface="Calibri"/>
                <a:cs typeface="Calibri"/>
                <a:sym typeface="Calibri"/>
              </a:rPr>
              <a:t>27</a:t>
            </a:fld>
            <a:endParaRPr sz="1800" b="1" i="0" u="none" strike="noStrike" cap="none">
              <a:solidFill>
                <a:schemeClr val="lt1"/>
              </a:solidFill>
              <a:latin typeface="Calibri"/>
              <a:ea typeface="Calibri"/>
              <a:cs typeface="Calibri"/>
              <a:sym typeface="Calibri"/>
            </a:endParaRPr>
          </a:p>
        </p:txBody>
      </p:sp>
      <p:sp>
        <p:nvSpPr>
          <p:cNvPr id="353" name="Google Shape;353;g1c0653c3a5e_0_0"/>
          <p:cNvSpPr txBox="1"/>
          <p:nvPr/>
        </p:nvSpPr>
        <p:spPr>
          <a:xfrm>
            <a:off x="1928793" y="6500834"/>
            <a:ext cx="5577475"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lt1"/>
                </a:solidFill>
                <a:latin typeface="Calibri"/>
                <a:ea typeface="Calibri"/>
                <a:cs typeface="Calibri"/>
                <a:sym typeface="Calibri"/>
              </a:rPr>
              <a:t>Department of Allied Computer Science &amp; Engineering</a:t>
            </a:r>
            <a:endParaRPr sz="1800" b="1" i="0" u="none" strike="noStrike" cap="none" dirty="0">
              <a:solidFill>
                <a:schemeClr val="lt1"/>
              </a:solidFill>
              <a:latin typeface="Calibri"/>
              <a:ea typeface="Calibri"/>
              <a:cs typeface="Calibri"/>
              <a:sym typeface="Calibri"/>
            </a:endParaRPr>
          </a:p>
        </p:txBody>
      </p:sp>
      <p:sp>
        <p:nvSpPr>
          <p:cNvPr id="354" name="Google Shape;354;g1c0653c3a5e_0_0"/>
          <p:cNvSpPr/>
          <p:nvPr/>
        </p:nvSpPr>
        <p:spPr>
          <a:xfrm>
            <a:off x="393895" y="1181674"/>
            <a:ext cx="8328074" cy="5148787"/>
          </a:xfrm>
          <a:prstGeom prst="rect">
            <a:avLst/>
          </a:prstGeom>
          <a:noFill/>
          <a:ln>
            <a:noFill/>
          </a:ln>
        </p:spPr>
        <p:txBody>
          <a:bodyPr spcFirstLastPara="1" wrap="square" lIns="91425" tIns="45700" rIns="91425" bIns="45700" anchor="t" anchorCtr="0">
            <a:noAutofit/>
          </a:bodyPr>
          <a:lstStyle/>
          <a:p>
            <a:pPr marL="457200" indent="-4572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H. S. </a:t>
            </a:r>
            <a:r>
              <a:rPr lang="en-IN" sz="2000" dirty="0" err="1">
                <a:latin typeface="Times New Roman" panose="02020603050405020304" pitchFamily="18" charset="0"/>
                <a:cs typeface="Times New Roman" panose="02020603050405020304" pitchFamily="18" charset="0"/>
              </a:rPr>
              <a:t>Murugan</a:t>
            </a:r>
            <a:r>
              <a:rPr lang="en-IN" sz="2000" dirty="0">
                <a:latin typeface="Times New Roman" panose="02020603050405020304" pitchFamily="18" charset="0"/>
                <a:cs typeface="Times New Roman" panose="02020603050405020304" pitchFamily="18" charset="0"/>
              </a:rPr>
              <a:t>, K. B. </a:t>
            </a:r>
            <a:r>
              <a:rPr lang="en-IN" sz="2000" dirty="0" err="1">
                <a:latin typeface="Times New Roman" panose="02020603050405020304" pitchFamily="18" charset="0"/>
                <a:cs typeface="Times New Roman" panose="02020603050405020304" pitchFamily="18" charset="0"/>
              </a:rPr>
              <a:t>Nimitha</a:t>
            </a:r>
            <a:r>
              <a:rPr lang="en-IN" sz="2000" dirty="0">
                <a:latin typeface="Times New Roman" panose="02020603050405020304" pitchFamily="18" charset="0"/>
                <a:cs typeface="Times New Roman" panose="02020603050405020304" pitchFamily="18" charset="0"/>
              </a:rPr>
              <a:t>, S. S. </a:t>
            </a:r>
            <a:r>
              <a:rPr lang="en-IN" sz="2000" dirty="0" err="1">
                <a:latin typeface="Times New Roman" panose="02020603050405020304" pitchFamily="18" charset="0"/>
                <a:cs typeface="Times New Roman" panose="02020603050405020304" pitchFamily="18" charset="0"/>
              </a:rPr>
              <a:t>Nimitha</a:t>
            </a:r>
            <a:r>
              <a:rPr lang="en-IN" sz="2000" dirty="0">
                <a:latin typeface="Times New Roman" panose="02020603050405020304" pitchFamily="18" charset="0"/>
                <a:cs typeface="Times New Roman" panose="02020603050405020304" pitchFamily="18" charset="0"/>
              </a:rPr>
              <a:t>, and M. Rash ,</a:t>
            </a:r>
            <a:r>
              <a:rPr lang="en-IN" sz="2000" i="1" dirty="0">
                <a:latin typeface="Times New Roman" panose="02020603050405020304" pitchFamily="18" charset="0"/>
                <a:cs typeface="Times New Roman" panose="02020603050405020304" pitchFamily="18" charset="0"/>
              </a:rPr>
              <a:t>“Trip Craft: A Customized Journey Recommendation Bot, ”</a:t>
            </a:r>
            <a:r>
              <a:rPr lang="en-IN" sz="2000" dirty="0">
                <a:latin typeface="Times New Roman" panose="02020603050405020304" pitchFamily="18" charset="0"/>
                <a:cs typeface="Times New Roman" panose="02020603050405020304" pitchFamily="18" charset="0"/>
              </a:rPr>
              <a:t>Proc. International Conference on Intelligent Travel Systems (ICITS), pp. 112–118, 2024.</a:t>
            </a:r>
          </a:p>
          <a:p>
            <a:pPr marL="457200" indent="-4572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C. N. </a:t>
            </a:r>
            <a:r>
              <a:rPr lang="en-US" sz="2000" dirty="0" err="1">
                <a:latin typeface="Times New Roman" panose="02020603050405020304" pitchFamily="18" charset="0"/>
                <a:cs typeface="Times New Roman" panose="02020603050405020304" pitchFamily="18" charset="0"/>
              </a:rPr>
              <a:t>Ranasinghe</a:t>
            </a:r>
            <a:r>
              <a:rPr lang="en-US" sz="2000" dirty="0">
                <a:latin typeface="Times New Roman" panose="02020603050405020304" pitchFamily="18" charset="0"/>
                <a:cs typeface="Times New Roman" panose="02020603050405020304" pitchFamily="18" charset="0"/>
              </a:rPr>
              <a:t> et al.,</a:t>
            </a:r>
            <a:r>
              <a:rPr lang="en-US" sz="2000" i="1" dirty="0">
                <a:latin typeface="Times New Roman" panose="02020603050405020304" pitchFamily="18" charset="0"/>
                <a:cs typeface="Times New Roman" panose="02020603050405020304" pitchFamily="18" charset="0"/>
              </a:rPr>
              <a:t>“</a:t>
            </a:r>
            <a:r>
              <a:rPr lang="en-US" sz="2000" i="1" dirty="0" err="1">
                <a:latin typeface="Times New Roman" panose="02020603050405020304" pitchFamily="18" charset="0"/>
                <a:cs typeface="Times New Roman" panose="02020603050405020304" pitchFamily="18" charset="0"/>
              </a:rPr>
              <a:t>HistoMind</a:t>
            </a:r>
            <a:r>
              <a:rPr lang="en-US" sz="2000" i="1" dirty="0">
                <a:latin typeface="Times New Roman" panose="02020603050405020304" pitchFamily="18" charset="0"/>
                <a:cs typeface="Times New Roman" panose="02020603050405020304" pitchFamily="18" charset="0"/>
              </a:rPr>
              <a:t>: An AI-Based Guide for Historical </a:t>
            </a:r>
            <a:r>
              <a:rPr lang="en-US" sz="2000" i="1" dirty="0" err="1">
                <a:latin typeface="Times New Roman" panose="02020603050405020304" pitchFamily="18" charset="0"/>
                <a:cs typeface="Times New Roman" panose="02020603050405020304" pitchFamily="18" charset="0"/>
              </a:rPr>
              <a:t>Sites,”</a:t>
            </a:r>
            <a:r>
              <a:rPr lang="en-US" sz="2000" dirty="0" err="1">
                <a:latin typeface="Times New Roman" panose="02020603050405020304" pitchFamily="18" charset="0"/>
                <a:cs typeface="Times New Roman" panose="02020603050405020304" pitchFamily="18" charset="0"/>
              </a:rPr>
              <a:t>IEEE</a:t>
            </a:r>
            <a:r>
              <a:rPr lang="en-US" sz="2000" dirty="0">
                <a:latin typeface="Times New Roman" panose="02020603050405020304" pitchFamily="18" charset="0"/>
                <a:cs typeface="Times New Roman" panose="02020603050405020304" pitchFamily="18" charset="0"/>
              </a:rPr>
              <a:t> Conference on Smart Tourism Analytics (STA), pp. 98–105, 2023.</a:t>
            </a:r>
          </a:p>
          <a:p>
            <a:pPr marL="457200" indent="-457200" algn="just">
              <a:lnSpc>
                <a:spcPct val="150000"/>
              </a:lnSpc>
              <a:buFont typeface="+mj-lt"/>
              <a:buAutoNum type="arabicPeriod"/>
            </a:pPr>
            <a:r>
              <a:rPr lang="en-US" sz="2000" i="1" dirty="0">
                <a:latin typeface="Times New Roman" panose="02020603050405020304" pitchFamily="18" charset="0"/>
                <a:cs typeface="Times New Roman" panose="02020603050405020304" pitchFamily="18" charset="0"/>
              </a:rPr>
              <a:t>“Online Tourist Portals for Destination Review </a:t>
            </a:r>
            <a:r>
              <a:rPr lang="en-US" sz="2000" i="1" dirty="0" err="1">
                <a:latin typeface="Times New Roman" panose="02020603050405020304" pitchFamily="18" charset="0"/>
                <a:cs typeface="Times New Roman" panose="02020603050405020304" pitchFamily="18" charset="0"/>
              </a:rPr>
              <a:t>Aggregation,”</a:t>
            </a:r>
            <a:r>
              <a:rPr lang="en-US" sz="2000" dirty="0" err="1">
                <a:latin typeface="Times New Roman" panose="02020603050405020304" pitchFamily="18" charset="0"/>
                <a:cs typeface="Times New Roman" panose="02020603050405020304" pitchFamily="18" charset="0"/>
              </a:rPr>
              <a:t>International</a:t>
            </a:r>
            <a:r>
              <a:rPr lang="en-US" sz="2000" dirty="0">
                <a:latin typeface="Times New Roman" panose="02020603050405020304" pitchFamily="18" charset="0"/>
                <a:cs typeface="Times New Roman" panose="02020603050405020304" pitchFamily="18" charset="0"/>
              </a:rPr>
              <a:t> Journal of Digital Tourism Systems, vol. 4, no. 3, 2021.</a:t>
            </a:r>
          </a:p>
          <a:p>
            <a:pPr marL="457200" indent="-457200" algn="just">
              <a:lnSpc>
                <a:spcPct val="150000"/>
              </a:lnSpc>
              <a:buFont typeface="+mj-lt"/>
              <a:buAutoNum type="arabicPeriod"/>
            </a:pPr>
            <a:r>
              <a:rPr lang="en-IN" sz="2000" dirty="0" err="1">
                <a:latin typeface="Times New Roman" panose="02020603050405020304" pitchFamily="18" charset="0"/>
                <a:cs typeface="Times New Roman" panose="02020603050405020304" pitchFamily="18" charset="0"/>
              </a:rPr>
              <a:t>Y.Bankhele</a:t>
            </a:r>
            <a:r>
              <a:rPr lang="en-IN" sz="2000" dirty="0">
                <a:latin typeface="Times New Roman" panose="02020603050405020304" pitchFamily="18" charset="0"/>
                <a:cs typeface="Times New Roman" panose="02020603050405020304" pitchFamily="18" charset="0"/>
              </a:rPr>
              <a:t> et </a:t>
            </a:r>
            <a:r>
              <a:rPr lang="en-IN" sz="2000" dirty="0" err="1">
                <a:latin typeface="Times New Roman" panose="02020603050405020304" pitchFamily="18" charset="0"/>
                <a:cs typeface="Times New Roman" panose="02020603050405020304" pitchFamily="18" charset="0"/>
              </a:rPr>
              <a:t>al.,</a:t>
            </a:r>
            <a:r>
              <a:rPr lang="en-IN" sz="2000" i="1" dirty="0" err="1">
                <a:latin typeface="Times New Roman" panose="02020603050405020304" pitchFamily="18" charset="0"/>
                <a:cs typeface="Times New Roman" panose="02020603050405020304" pitchFamily="18" charset="0"/>
              </a:rPr>
              <a:t>“AI</a:t>
            </a:r>
            <a:r>
              <a:rPr lang="en-IN" sz="2000" i="1" dirty="0">
                <a:latin typeface="Times New Roman" panose="02020603050405020304" pitchFamily="18" charset="0"/>
                <a:cs typeface="Times New Roman" panose="02020603050405020304" pitchFamily="18" charset="0"/>
              </a:rPr>
              <a:t>-Based Intelligent Trip Planning and Recommendation </a:t>
            </a:r>
            <a:r>
              <a:rPr lang="en-IN" sz="2000" i="1" dirty="0" err="1">
                <a:latin typeface="Times New Roman" panose="02020603050405020304" pitchFamily="18" charset="0"/>
                <a:cs typeface="Times New Roman" panose="02020603050405020304" pitchFamily="18" charset="0"/>
              </a:rPr>
              <a:t>System,”</a:t>
            </a:r>
            <a:r>
              <a:rPr lang="en-IN" sz="2000" dirty="0" err="1">
                <a:latin typeface="Times New Roman" panose="02020603050405020304" pitchFamily="18" charset="0"/>
                <a:cs typeface="Times New Roman" panose="02020603050405020304" pitchFamily="18" charset="0"/>
              </a:rPr>
              <a:t>IJARSCT</a:t>
            </a:r>
            <a:r>
              <a:rPr lang="en-IN" sz="2000" dirty="0">
                <a:latin typeface="Times New Roman" panose="02020603050405020304" pitchFamily="18" charset="0"/>
                <a:cs typeface="Times New Roman" panose="02020603050405020304" pitchFamily="18" charset="0"/>
              </a:rPr>
              <a:t>, vol. 5, no. 1, pp. 352–355, 2025.</a:t>
            </a:r>
            <a:endParaRPr lang="en-US" sz="2000" dirty="0">
              <a:latin typeface="Times New Roman" panose="02020603050405020304" pitchFamily="18" charset="0"/>
              <a:cs typeface="Times New Roman" panose="02020603050405020304" pitchFamily="18" charset="0"/>
            </a:endParaRPr>
          </a:p>
          <a:p>
            <a:pPr marL="101346" marR="61847" lvl="0" algn="just">
              <a:lnSpc>
                <a:spcPct val="150000"/>
              </a:lnSpc>
              <a:buClr>
                <a:schemeClr val="dk1"/>
              </a:buClr>
              <a:buSzPts val="2004"/>
            </a:pPr>
            <a:endParaRPr sz="20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1"/>
          <p:cNvSpPr/>
          <p:nvPr/>
        </p:nvSpPr>
        <p:spPr>
          <a:xfrm>
            <a:off x="1214414" y="14840"/>
            <a:ext cx="7715304" cy="842392"/>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endParaRPr sz="3600" b="1" i="0" u="none" strike="noStrike" cap="none">
              <a:solidFill>
                <a:schemeClr val="lt1"/>
              </a:solidFill>
              <a:latin typeface="Calibri"/>
              <a:ea typeface="Calibri"/>
              <a:cs typeface="Calibri"/>
              <a:sym typeface="Calibri"/>
            </a:endParaRPr>
          </a:p>
        </p:txBody>
      </p:sp>
      <p:sp>
        <p:nvSpPr>
          <p:cNvPr id="361" name="Google Shape;361;p21"/>
          <p:cNvSpPr/>
          <p:nvPr/>
        </p:nvSpPr>
        <p:spPr>
          <a:xfrm>
            <a:off x="32" y="6572272"/>
            <a:ext cx="9144000" cy="285728"/>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62" name="Google Shape;362;p21"/>
          <p:cNvPicPr preferRelativeResize="0"/>
          <p:nvPr/>
        </p:nvPicPr>
        <p:blipFill rotWithShape="1">
          <a:blip r:embed="rId3">
            <a:alphaModFix/>
          </a:blip>
          <a:srcRect/>
          <a:stretch/>
        </p:blipFill>
        <p:spPr>
          <a:xfrm>
            <a:off x="201538" y="0"/>
            <a:ext cx="870000" cy="857232"/>
          </a:xfrm>
          <a:prstGeom prst="rect">
            <a:avLst/>
          </a:prstGeom>
          <a:noFill/>
          <a:ln>
            <a:noFill/>
          </a:ln>
        </p:spPr>
      </p:pic>
      <p:sp>
        <p:nvSpPr>
          <p:cNvPr id="363" name="Google Shape;363;p21"/>
          <p:cNvSpPr txBox="1">
            <a:spLocks noGrp="1"/>
          </p:cNvSpPr>
          <p:nvPr>
            <p:ph type="dt" idx="10"/>
          </p:nvPr>
        </p:nvSpPr>
        <p:spPr>
          <a:xfrm>
            <a:off x="142844" y="6572272"/>
            <a:ext cx="2133600" cy="29207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800"/>
              <a:buFont typeface="Arial"/>
              <a:buNone/>
            </a:pPr>
            <a:r>
              <a:rPr lang="en-US" sz="1800" b="1" dirty="0">
                <a:solidFill>
                  <a:schemeClr val="lt1"/>
                </a:solidFill>
              </a:rPr>
              <a:t>06/04/2026</a:t>
            </a:r>
            <a:endParaRPr dirty="0"/>
          </a:p>
        </p:txBody>
      </p:sp>
      <p:sp>
        <p:nvSpPr>
          <p:cNvPr id="364" name="Google Shape;364;p21"/>
          <p:cNvSpPr txBox="1">
            <a:spLocks noGrp="1"/>
          </p:cNvSpPr>
          <p:nvPr>
            <p:ph type="sldNum" idx="12"/>
          </p:nvPr>
        </p:nvSpPr>
        <p:spPr>
          <a:xfrm>
            <a:off x="6724680" y="6500834"/>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sz="1800" b="1">
                <a:solidFill>
                  <a:schemeClr val="lt1"/>
                </a:solidFill>
              </a:rPr>
              <a:t>28</a:t>
            </a:fld>
            <a:endParaRPr sz="1800" b="1">
              <a:solidFill>
                <a:schemeClr val="lt1"/>
              </a:solidFill>
            </a:endParaRPr>
          </a:p>
        </p:txBody>
      </p:sp>
      <p:sp>
        <p:nvSpPr>
          <p:cNvPr id="365" name="Google Shape;365;p21"/>
          <p:cNvSpPr txBox="1">
            <a:spLocks noGrp="1"/>
          </p:cNvSpPr>
          <p:nvPr>
            <p:ph type="ftr" idx="11"/>
          </p:nvPr>
        </p:nvSpPr>
        <p:spPr>
          <a:xfrm>
            <a:off x="1928800" y="6500825"/>
            <a:ext cx="5618412"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1800" b="1" dirty="0">
                <a:solidFill>
                  <a:schemeClr val="lt1"/>
                </a:solidFill>
              </a:rPr>
              <a:t>     Department of Allied Computer Science &amp; Engineering</a:t>
            </a:r>
            <a:endParaRPr sz="1800" b="1" dirty="0">
              <a:solidFill>
                <a:schemeClr val="lt1"/>
              </a:solidFill>
            </a:endParaRPr>
          </a:p>
        </p:txBody>
      </p:sp>
      <p:sp>
        <p:nvSpPr>
          <p:cNvPr id="366" name="Google Shape;366;p21"/>
          <p:cNvSpPr txBox="1"/>
          <p:nvPr/>
        </p:nvSpPr>
        <p:spPr>
          <a:xfrm>
            <a:off x="2581244" y="2362200"/>
            <a:ext cx="4352956" cy="110799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600" b="1" i="0" u="none" strike="noStrike" cap="none" dirty="0">
                <a:solidFill>
                  <a:schemeClr val="dk1"/>
                </a:solidFill>
                <a:latin typeface="Times New Roman"/>
                <a:ea typeface="Times New Roman"/>
                <a:cs typeface="Times New Roman"/>
                <a:sym typeface="Times New Roman"/>
              </a:rPr>
              <a:t>Thank You</a:t>
            </a:r>
            <a:endParaRPr sz="6600" b="1"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246</TotalTime>
  <Words>1795</Words>
  <Application>Microsoft Office PowerPoint</Application>
  <PresentationFormat>On-screen Show (4:3)</PresentationFormat>
  <Paragraphs>257</Paragraphs>
  <Slides>28</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Book Antiqua</vt:lpstr>
      <vt:lpstr>Calibri</vt:lpstr>
      <vt:lpstr>Noto Sans Symbols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EXISTING SYSTEM DRAWBACKS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Nandini Veeranki</dc:creator>
  <cp:lastModifiedBy>Nandini Veeranki</cp:lastModifiedBy>
  <cp:revision>186</cp:revision>
  <dcterms:modified xsi:type="dcterms:W3CDTF">2026-04-03T13:27:59Z</dcterms:modified>
</cp:coreProperties>
</file>